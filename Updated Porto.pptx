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287000" cy="10287000"/>
  <p:notesSz cx="6858000" cy="9144000"/>
  <p:embeddedFontLst>
    <p:embeddedFont>
      <p:font typeface="Inter" panose="020B0604020202020204" charset="0"/>
      <p:regular r:id="rId10"/>
    </p:embeddedFont>
    <p:embeddedFont>
      <p:font typeface="Inter Bold" panose="020B0604020202020204" charset="0"/>
      <p:regular r:id="rId11"/>
    </p:embeddedFont>
    <p:embeddedFont>
      <p:font typeface="Noto Serif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54" autoAdjust="0"/>
    <p:restoredTop sz="94622" autoAdjust="0"/>
  </p:normalViewPr>
  <p:slideViewPr>
    <p:cSldViewPr>
      <p:cViewPr varScale="1">
        <p:scale>
          <a:sx n="60" d="100"/>
          <a:sy n="60" d="100"/>
        </p:scale>
        <p:origin x="109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76A5A-76D9-4398-B053-4E8628C7DE08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BD3B2-F3FB-45E6-9772-34A1DAA26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5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BD3B2-F3FB-45E6-9772-34A1DAA267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6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velm69/Thesi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velm69/TRISTE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velm69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linkedin.com/in/marvelmartawidjaja" TargetMode="External"/><Relationship Id="rId4" Type="http://schemas.openxmlformats.org/officeDocument/2006/relationships/hyperlink" Target="https://marvel-portfolio-two.vercel.app/experienc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5785" y="9824085"/>
            <a:ext cx="2263140" cy="185166"/>
            <a:chOff x="0" y="0"/>
            <a:chExt cx="3017520" cy="246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7520" cy="246888"/>
            </a:xfrm>
            <a:custGeom>
              <a:avLst/>
              <a:gdLst/>
              <a:ahLst/>
              <a:cxnLst/>
              <a:rect l="l" t="t" r="r" b="b"/>
              <a:pathLst>
                <a:path w="3017520" h="246888">
                  <a:moveTo>
                    <a:pt x="0" y="0"/>
                  </a:moveTo>
                  <a:lnTo>
                    <a:pt x="3017520" y="0"/>
                  </a:lnTo>
                  <a:lnTo>
                    <a:pt x="301752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8150" b="-1881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01752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@marvelm69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51885" y="9824085"/>
            <a:ext cx="2983230" cy="185166"/>
            <a:chOff x="0" y="0"/>
            <a:chExt cx="3977640" cy="2468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77640" cy="246888"/>
            </a:xfrm>
            <a:custGeom>
              <a:avLst/>
              <a:gdLst/>
              <a:ahLst/>
              <a:cxnLst/>
              <a:rect l="l" t="t" r="r" b="b"/>
              <a:pathLst>
                <a:path w="3977640" h="246888">
                  <a:moveTo>
                    <a:pt x="0" y="0"/>
                  </a:moveTo>
                  <a:lnTo>
                    <a:pt x="3977640" y="0"/>
                  </a:lnTo>
                  <a:lnTo>
                    <a:pt x="397764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925" b="-2639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397764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marvel.m818@gmail.com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43725" y="9824085"/>
            <a:ext cx="2777490" cy="185166"/>
            <a:chOff x="0" y="0"/>
            <a:chExt cx="3703320" cy="2468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03320" cy="246888"/>
            </a:xfrm>
            <a:custGeom>
              <a:avLst/>
              <a:gdLst/>
              <a:ahLst/>
              <a:cxnLst/>
              <a:rect l="l" t="t" r="r" b="b"/>
              <a:pathLst>
                <a:path w="3703320" h="246888">
                  <a:moveTo>
                    <a:pt x="0" y="0"/>
                  </a:moveTo>
                  <a:lnTo>
                    <a:pt x="3703320" y="0"/>
                  </a:lnTo>
                  <a:lnTo>
                    <a:pt x="370332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370332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marvel-portfolio-two.vercel.app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502" y="630650"/>
            <a:ext cx="3031522" cy="343472"/>
            <a:chOff x="0" y="0"/>
            <a:chExt cx="4042029" cy="457962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201785" cy="457962"/>
              <a:chOff x="0" y="0"/>
              <a:chExt cx="1201785" cy="45796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201749" cy="457835"/>
              </a:xfrm>
              <a:custGeom>
                <a:avLst/>
                <a:gdLst/>
                <a:ahLst/>
                <a:cxnLst/>
                <a:rect l="l" t="t" r="r" b="b"/>
                <a:pathLst>
                  <a:path w="1201749" h="457835">
                    <a:moveTo>
                      <a:pt x="0" y="114427"/>
                    </a:moveTo>
                    <a:cubicBezTo>
                      <a:pt x="0" y="51308"/>
                      <a:pt x="14673" y="0"/>
                      <a:pt x="32723" y="0"/>
                    </a:cubicBezTo>
                    <a:lnTo>
                      <a:pt x="1169026" y="0"/>
                    </a:lnTo>
                    <a:cubicBezTo>
                      <a:pt x="1187113" y="0"/>
                      <a:pt x="1201749" y="51308"/>
                      <a:pt x="1201749" y="114427"/>
                    </a:cubicBezTo>
                    <a:lnTo>
                      <a:pt x="1201749" y="343408"/>
                    </a:lnTo>
                    <a:cubicBezTo>
                      <a:pt x="1201749" y="406654"/>
                      <a:pt x="1187076" y="457835"/>
                      <a:pt x="1169026" y="457835"/>
                    </a:cubicBezTo>
                    <a:lnTo>
                      <a:pt x="32723" y="457835"/>
                    </a:lnTo>
                    <a:cubicBezTo>
                      <a:pt x="14673" y="457962"/>
                      <a:pt x="0" y="406654"/>
                      <a:pt x="0" y="343408"/>
                    </a:cubicBezTo>
                    <a:close/>
                  </a:path>
                </a:pathLst>
              </a:custGeom>
              <a:solidFill>
                <a:srgbClr val="E8EEFF"/>
              </a:solidFill>
              <a:ln w="14288" cap="sq">
                <a:solidFill>
                  <a:srgbClr val="E8EE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60401" y="49657"/>
              <a:ext cx="3881628" cy="384048"/>
              <a:chOff x="0" y="0"/>
              <a:chExt cx="3881628" cy="38404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881628" cy="384048"/>
              </a:xfrm>
              <a:custGeom>
                <a:avLst/>
                <a:gdLst/>
                <a:ahLst/>
                <a:cxnLst/>
                <a:rect l="l" t="t" r="r" b="b"/>
                <a:pathLst>
                  <a:path w="3881628" h="384048">
                    <a:moveTo>
                      <a:pt x="0" y="0"/>
                    </a:moveTo>
                    <a:lnTo>
                      <a:pt x="3881628" y="0"/>
                    </a:lnTo>
                    <a:lnTo>
                      <a:pt x="3881628" y="384048"/>
                    </a:lnTo>
                    <a:lnTo>
                      <a:pt x="0" y="3840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46938" b="-14693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0"/>
                <a:ext cx="3881628" cy="38404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147"/>
                  </a:lnSpc>
                </a:pPr>
                <a:r>
                  <a:rPr lang="en-US" sz="956" b="1">
                    <a:solidFill>
                      <a:srgbClr val="496C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PORTFOLIO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596646" y="1316736"/>
            <a:ext cx="6275070" cy="720090"/>
            <a:chOff x="0" y="0"/>
            <a:chExt cx="8366760" cy="9601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366760" cy="960120"/>
            </a:xfrm>
            <a:custGeom>
              <a:avLst/>
              <a:gdLst/>
              <a:ahLst/>
              <a:cxnLst/>
              <a:rect l="l" t="t" r="r" b="b"/>
              <a:pathLst>
                <a:path w="8366760" h="960120">
                  <a:moveTo>
                    <a:pt x="0" y="0"/>
                  </a:moveTo>
                  <a:lnTo>
                    <a:pt x="8366760" y="0"/>
                  </a:lnTo>
                  <a:lnTo>
                    <a:pt x="8366760" y="960120"/>
                  </a:lnTo>
                  <a:lnTo>
                    <a:pt x="0" y="960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798" b="-1197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8366760" cy="969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17191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Hi, I’m Marvel.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96646" y="2068449"/>
            <a:ext cx="7766685" cy="1089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1">
                <a:solidFill>
                  <a:srgbClr val="496CFF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I build AI systems that move from research into real-world decisions.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6646" y="3343275"/>
            <a:ext cx="470000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7"/>
              </a:lnSpc>
            </a:pPr>
            <a:r>
              <a:rPr lang="en-US" sz="1372" dirty="0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I’m a final-year Data Science student at Bina Nusantara University and an AI Solution Architect at Philip Morris International. My work runs from sign-language recognition and healthcare AI to mental-health screening and recommendation systems — research I try to push all the way to something a person can actually use.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6646" y="5300000"/>
            <a:ext cx="4700000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7"/>
              </a:lnSpc>
            </a:pPr>
            <a:r>
              <a:rPr lang="en-US" sz="1372" b="1" dirty="0">
                <a:solidFill>
                  <a:srgbClr val="17191F"/>
                </a:solidFill>
                <a:latin typeface="Inter Bold"/>
                <a:ea typeface="Inter Bold"/>
                <a:cs typeface="Inter Bold"/>
                <a:sym typeface="Inter Bold"/>
              </a:rPr>
              <a:t>I’m applying to the Academy because the hardest part of my work isn’t the model — it’s everything after it. I want to learn to turn what I build into products that feel intuitive, accessible, and worth using.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96646" y="7571232"/>
            <a:ext cx="2366010" cy="339471"/>
            <a:chOff x="0" y="0"/>
            <a:chExt cx="3154680" cy="45262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154680" cy="452628"/>
            </a:xfrm>
            <a:custGeom>
              <a:avLst/>
              <a:gdLst/>
              <a:ahLst/>
              <a:cxnLst/>
              <a:rect l="l" t="t" r="r" b="b"/>
              <a:pathLst>
                <a:path w="3154680" h="452628">
                  <a:moveTo>
                    <a:pt x="0" y="0"/>
                  </a:moveTo>
                  <a:lnTo>
                    <a:pt x="3154680" y="0"/>
                  </a:lnTo>
                  <a:lnTo>
                    <a:pt x="3154680" y="452628"/>
                  </a:lnTo>
                  <a:lnTo>
                    <a:pt x="0" y="452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804" b="-858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3154680" cy="4621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85"/>
                </a:lnSpc>
              </a:pPr>
              <a:r>
                <a:rPr lang="en-US" sz="1237" b="1">
                  <a:solidFill>
                    <a:srgbClr val="636A7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Selected work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188452" y="7221474"/>
            <a:ext cx="1234440" cy="678942"/>
            <a:chOff x="0" y="0"/>
            <a:chExt cx="1645920" cy="90525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645920" cy="905256"/>
            </a:xfrm>
            <a:custGeom>
              <a:avLst/>
              <a:gdLst/>
              <a:ahLst/>
              <a:cxnLst/>
              <a:rect l="l" t="t" r="r" b="b"/>
              <a:pathLst>
                <a:path w="1645920" h="905256">
                  <a:moveTo>
                    <a:pt x="0" y="0"/>
                  </a:moveTo>
                  <a:lnTo>
                    <a:pt x="1645920" y="0"/>
                  </a:lnTo>
                  <a:lnTo>
                    <a:pt x="1645920" y="905256"/>
                  </a:lnTo>
                  <a:lnTo>
                    <a:pt x="0" y="905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66" r="-2056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9525"/>
              <a:ext cx="1645920" cy="8957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590"/>
                </a:lnSpc>
              </a:pPr>
              <a:r>
                <a:rPr lang="en-US" sz="3825">
                  <a:solidFill>
                    <a:srgbClr val="496CFF"/>
                  </a:solidFill>
                  <a:latin typeface="Inter"/>
                  <a:ea typeface="Inter"/>
                  <a:cs typeface="Inter"/>
                  <a:sym typeface="Inter"/>
                </a:rPr>
                <a:t>05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941564" y="7869555"/>
            <a:ext cx="1491615" cy="205740"/>
            <a:chOff x="0" y="0"/>
            <a:chExt cx="1988820" cy="2743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988820" cy="274320"/>
            </a:xfrm>
            <a:custGeom>
              <a:avLst/>
              <a:gdLst/>
              <a:ahLst/>
              <a:cxnLst/>
              <a:rect l="l" t="t" r="r" b="b"/>
              <a:pathLst>
                <a:path w="1988820" h="274320">
                  <a:moveTo>
                    <a:pt x="0" y="0"/>
                  </a:moveTo>
                  <a:lnTo>
                    <a:pt x="1988820" y="0"/>
                  </a:lnTo>
                  <a:lnTo>
                    <a:pt x="1988820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266" b="-9126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1988820" cy="2743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12"/>
                </a:lnSpc>
              </a:pPr>
              <a:r>
                <a:rPr lang="en-US" sz="843" b="1" spc="146">
                  <a:solidFill>
                    <a:srgbClr val="636A7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PROJECTS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9709785" y="405765"/>
            <a:ext cx="717118" cy="24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C4C8D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grpSp>
        <p:nvGrpSpPr>
          <p:cNvPr id="5903" name="Group 902">
            <a:extLst>
              <a:ext uri="{FF2B5EF4-FFF2-40B4-BE49-F238E27FC236}">
                <a16:creationId xmlns:a16="http://schemas.microsoft.com/office/drawing/2014/main" id="{ECBB25E7-43E7-85FE-ED40-BC97ABF9A58D}"/>
              </a:ext>
            </a:extLst>
          </p:cNvPr>
          <p:cNvGrpSpPr/>
          <p:nvPr/>
        </p:nvGrpSpPr>
        <p:grpSpPr>
          <a:xfrm>
            <a:off x="5484909" y="4299998"/>
            <a:ext cx="4236309" cy="2646859"/>
            <a:chOff x="6310503" y="4232529"/>
            <a:chExt cx="3344418" cy="2089404"/>
          </a:xfrm>
        </p:grpSpPr>
        <p:grpSp>
          <p:nvGrpSpPr>
            <p:cNvPr id="5029" name="Group 29"/>
            <p:cNvGrpSpPr/>
            <p:nvPr/>
          </p:nvGrpSpPr>
          <p:grpSpPr>
            <a:xfrm>
              <a:off x="6310503" y="4232529"/>
              <a:ext cx="1575054" cy="957834"/>
              <a:chOff x="0" y="0"/>
              <a:chExt cx="2100072" cy="1277112"/>
            </a:xfrm>
          </p:grpSpPr>
          <p:sp>
            <p:nvSpPr>
              <p:cNvPr id="5030" name="Freeform 30"/>
              <p:cNvSpPr/>
              <p:nvPr/>
            </p:nvSpPr>
            <p:spPr>
              <a:xfrm>
                <a:off x="0" y="0"/>
                <a:ext cx="2100072" cy="1277112"/>
              </a:xfrm>
              <a:custGeom>
                <a:avLst/>
                <a:gdLst/>
                <a:ahLst/>
                <a:cxnLst/>
                <a:rect l="l" t="t" r="r" b="b"/>
                <a:pathLst>
                  <a:path w="2100072" h="1277112">
                    <a:moveTo>
                      <a:pt x="0" y="194310"/>
                    </a:moveTo>
                    <a:cubicBezTo>
                      <a:pt x="0" y="86995"/>
                      <a:pt x="86995" y="0"/>
                      <a:pt x="194310" y="0"/>
                    </a:cubicBezTo>
                    <a:lnTo>
                      <a:pt x="1905762" y="0"/>
                    </a:lnTo>
                    <a:cubicBezTo>
                      <a:pt x="2013077" y="0"/>
                      <a:pt x="2100072" y="86995"/>
                      <a:pt x="2100072" y="194310"/>
                    </a:cubicBezTo>
                    <a:lnTo>
                      <a:pt x="2100072" y="1082802"/>
                    </a:lnTo>
                    <a:cubicBezTo>
                      <a:pt x="2100072" y="1190117"/>
                      <a:pt x="2013077" y="1277112"/>
                      <a:pt x="1905762" y="1277112"/>
                    </a:cubicBezTo>
                    <a:lnTo>
                      <a:pt x="194310" y="1277112"/>
                    </a:lnTo>
                    <a:cubicBezTo>
                      <a:pt x="86995" y="1277112"/>
                      <a:pt x="0" y="1190117"/>
                      <a:pt x="0" y="1082802"/>
                    </a:cubicBezTo>
                    <a:close/>
                  </a:path>
                </a:pathLst>
              </a:custGeom>
              <a:solidFill>
                <a:srgbClr val="FFEAF5"/>
              </a:solidFill>
              <a:ln w="11430" cap="sq">
                <a:solidFill>
                  <a:srgbClr val="FFEAF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031" name="Group 31"/>
            <p:cNvGrpSpPr/>
            <p:nvPr/>
          </p:nvGrpSpPr>
          <p:grpSpPr>
            <a:xfrm>
              <a:off x="6460236" y="4341114"/>
              <a:ext cx="1275588" cy="370332"/>
              <a:chOff x="0" y="0"/>
              <a:chExt cx="1700784" cy="493776"/>
            </a:xfrm>
          </p:grpSpPr>
          <p:sp>
            <p:nvSpPr>
              <p:cNvPr id="5032" name="Freeform 32"/>
              <p:cNvSpPr/>
              <p:nvPr/>
            </p:nvSpPr>
            <p:spPr>
              <a:xfrm>
                <a:off x="0" y="0"/>
                <a:ext cx="1700784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493776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493776"/>
                    </a:lnTo>
                    <a:lnTo>
                      <a:pt x="0" y="49377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7115" b="-1711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3" name="TextBox 33"/>
              <p:cNvSpPr txBox="1"/>
              <p:nvPr/>
            </p:nvSpPr>
            <p:spPr>
              <a:xfrm>
                <a:off x="0" y="0"/>
                <a:ext cx="1700784" cy="49377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65"/>
                  </a:lnSpc>
                </a:pPr>
                <a:r>
                  <a:rPr lang="en-US" sz="2137" b="1">
                    <a:solidFill>
                      <a:srgbClr val="17191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3.74</a:t>
                </a:r>
              </a:p>
            </p:txBody>
          </p:sp>
        </p:grpSp>
        <p:grpSp>
          <p:nvGrpSpPr>
            <p:cNvPr id="5034" name="Group 34"/>
            <p:cNvGrpSpPr/>
            <p:nvPr/>
          </p:nvGrpSpPr>
          <p:grpSpPr>
            <a:xfrm>
              <a:off x="6460236" y="4773168"/>
              <a:ext cx="1275588" cy="246888"/>
              <a:chOff x="0" y="0"/>
              <a:chExt cx="1700784" cy="329184"/>
            </a:xfrm>
          </p:grpSpPr>
          <p:sp>
            <p:nvSpPr>
              <p:cNvPr id="5035" name="Freeform 35"/>
              <p:cNvSpPr/>
              <p:nvPr/>
            </p:nvSpPr>
            <p:spPr>
              <a:xfrm>
                <a:off x="0" y="0"/>
                <a:ext cx="1700784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329184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329184"/>
                    </a:lnTo>
                    <a:lnTo>
                      <a:pt x="0" y="3291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672" b="-5067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6" name="TextBox 36"/>
              <p:cNvSpPr txBox="1"/>
              <p:nvPr/>
            </p:nvSpPr>
            <p:spPr>
              <a:xfrm>
                <a:off x="0" y="0"/>
                <a:ext cx="1700784" cy="32918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39"/>
                  </a:lnSpc>
                </a:pPr>
                <a:r>
                  <a:rPr lang="en-US" sz="866" b="1">
                    <a:solidFill>
                      <a:srgbClr val="636A78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GPA • BSC DATA SCIENCE, BINUS</a:t>
                </a:r>
              </a:p>
            </p:txBody>
          </p:sp>
        </p:grpSp>
        <p:grpSp>
          <p:nvGrpSpPr>
            <p:cNvPr id="5037" name="Group 37"/>
            <p:cNvGrpSpPr/>
            <p:nvPr/>
          </p:nvGrpSpPr>
          <p:grpSpPr>
            <a:xfrm>
              <a:off x="8079867" y="4232529"/>
              <a:ext cx="1575054" cy="957834"/>
              <a:chOff x="0" y="0"/>
              <a:chExt cx="2100072" cy="1277112"/>
            </a:xfrm>
          </p:grpSpPr>
          <p:sp>
            <p:nvSpPr>
              <p:cNvPr id="5038" name="Freeform 38"/>
              <p:cNvSpPr/>
              <p:nvPr/>
            </p:nvSpPr>
            <p:spPr>
              <a:xfrm>
                <a:off x="0" y="0"/>
                <a:ext cx="2100072" cy="1277112"/>
              </a:xfrm>
              <a:custGeom>
                <a:avLst/>
                <a:gdLst/>
                <a:ahLst/>
                <a:cxnLst/>
                <a:rect l="l" t="t" r="r" b="b"/>
                <a:pathLst>
                  <a:path w="2100072" h="1277112">
                    <a:moveTo>
                      <a:pt x="0" y="194310"/>
                    </a:moveTo>
                    <a:cubicBezTo>
                      <a:pt x="0" y="86995"/>
                      <a:pt x="86995" y="0"/>
                      <a:pt x="194310" y="0"/>
                    </a:cubicBezTo>
                    <a:lnTo>
                      <a:pt x="1905762" y="0"/>
                    </a:lnTo>
                    <a:cubicBezTo>
                      <a:pt x="2013077" y="0"/>
                      <a:pt x="2100072" y="86995"/>
                      <a:pt x="2100072" y="194310"/>
                    </a:cubicBezTo>
                    <a:lnTo>
                      <a:pt x="2100072" y="1082802"/>
                    </a:lnTo>
                    <a:cubicBezTo>
                      <a:pt x="2100072" y="1190117"/>
                      <a:pt x="2013077" y="1277112"/>
                      <a:pt x="1905762" y="1277112"/>
                    </a:cubicBezTo>
                    <a:lnTo>
                      <a:pt x="194310" y="1277112"/>
                    </a:lnTo>
                    <a:cubicBezTo>
                      <a:pt x="86995" y="1277112"/>
                      <a:pt x="0" y="1190117"/>
                      <a:pt x="0" y="1082802"/>
                    </a:cubicBezTo>
                    <a:close/>
                  </a:path>
                </a:pathLst>
              </a:custGeom>
              <a:solidFill>
                <a:srgbClr val="E8EEFF"/>
              </a:solidFill>
              <a:ln w="11430" cap="sq">
                <a:solidFill>
                  <a:srgbClr val="E8EE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039" name="Group 39"/>
            <p:cNvGrpSpPr/>
            <p:nvPr/>
          </p:nvGrpSpPr>
          <p:grpSpPr>
            <a:xfrm>
              <a:off x="8229600" y="4341114"/>
              <a:ext cx="1275588" cy="370332"/>
              <a:chOff x="0" y="0"/>
              <a:chExt cx="1700784" cy="493776"/>
            </a:xfrm>
          </p:grpSpPr>
          <p:sp>
            <p:nvSpPr>
              <p:cNvPr id="5040" name="Freeform 40"/>
              <p:cNvSpPr/>
              <p:nvPr/>
            </p:nvSpPr>
            <p:spPr>
              <a:xfrm>
                <a:off x="0" y="0"/>
                <a:ext cx="1700784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493776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493776"/>
                    </a:lnTo>
                    <a:lnTo>
                      <a:pt x="0" y="49377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7115" b="-1711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41" name="TextBox 41"/>
              <p:cNvSpPr txBox="1"/>
              <p:nvPr/>
            </p:nvSpPr>
            <p:spPr>
              <a:xfrm>
                <a:off x="0" y="0"/>
                <a:ext cx="1700784" cy="49377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65"/>
                  </a:lnSpc>
                </a:pPr>
                <a:r>
                  <a:rPr lang="en-US" sz="2137" b="1">
                    <a:solidFill>
                      <a:srgbClr val="496C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07</a:t>
                </a:r>
              </a:p>
            </p:txBody>
          </p:sp>
        </p:grpSp>
        <p:grpSp>
          <p:nvGrpSpPr>
            <p:cNvPr id="5042" name="Group 42"/>
            <p:cNvGrpSpPr/>
            <p:nvPr/>
          </p:nvGrpSpPr>
          <p:grpSpPr>
            <a:xfrm>
              <a:off x="8229600" y="4773168"/>
              <a:ext cx="1275588" cy="246888"/>
              <a:chOff x="0" y="0"/>
              <a:chExt cx="1700784" cy="329184"/>
            </a:xfrm>
          </p:grpSpPr>
          <p:sp>
            <p:nvSpPr>
              <p:cNvPr id="5043" name="Freeform 43"/>
              <p:cNvSpPr/>
              <p:nvPr/>
            </p:nvSpPr>
            <p:spPr>
              <a:xfrm>
                <a:off x="0" y="0"/>
                <a:ext cx="1700784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329184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329184"/>
                    </a:lnTo>
                    <a:lnTo>
                      <a:pt x="0" y="3291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672" b="-5067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44" name="TextBox 44"/>
              <p:cNvSpPr txBox="1"/>
              <p:nvPr/>
            </p:nvSpPr>
            <p:spPr>
              <a:xfrm>
                <a:off x="0" y="0"/>
                <a:ext cx="1700784" cy="32918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39"/>
                  </a:lnSpc>
                </a:pPr>
                <a:r>
                  <a:rPr lang="en-US" sz="866" b="1">
                    <a:solidFill>
                      <a:srgbClr val="636A78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PUBLICATIONS • 1 UNDER REVIEW</a:t>
                </a:r>
              </a:p>
            </p:txBody>
          </p:sp>
        </p:grpSp>
        <p:grpSp>
          <p:nvGrpSpPr>
            <p:cNvPr id="5045" name="Group 45"/>
            <p:cNvGrpSpPr/>
            <p:nvPr/>
          </p:nvGrpSpPr>
          <p:grpSpPr>
            <a:xfrm>
              <a:off x="6310503" y="5364099"/>
              <a:ext cx="1575054" cy="957834"/>
              <a:chOff x="0" y="0"/>
              <a:chExt cx="2100072" cy="1277112"/>
            </a:xfrm>
          </p:grpSpPr>
          <p:sp>
            <p:nvSpPr>
              <p:cNvPr id="5046" name="Freeform 46"/>
              <p:cNvSpPr/>
              <p:nvPr/>
            </p:nvSpPr>
            <p:spPr>
              <a:xfrm>
                <a:off x="0" y="0"/>
                <a:ext cx="2100072" cy="1277112"/>
              </a:xfrm>
              <a:custGeom>
                <a:avLst/>
                <a:gdLst/>
                <a:ahLst/>
                <a:cxnLst/>
                <a:rect l="l" t="t" r="r" b="b"/>
                <a:pathLst>
                  <a:path w="2100072" h="1277112">
                    <a:moveTo>
                      <a:pt x="0" y="194310"/>
                    </a:moveTo>
                    <a:cubicBezTo>
                      <a:pt x="0" y="86995"/>
                      <a:pt x="86995" y="0"/>
                      <a:pt x="194310" y="0"/>
                    </a:cubicBezTo>
                    <a:lnTo>
                      <a:pt x="1905762" y="0"/>
                    </a:lnTo>
                    <a:cubicBezTo>
                      <a:pt x="2013077" y="0"/>
                      <a:pt x="2100072" y="86995"/>
                      <a:pt x="2100072" y="194310"/>
                    </a:cubicBezTo>
                    <a:lnTo>
                      <a:pt x="2100072" y="1082802"/>
                    </a:lnTo>
                    <a:cubicBezTo>
                      <a:pt x="2100072" y="1190117"/>
                      <a:pt x="2013077" y="1277112"/>
                      <a:pt x="1905762" y="1277112"/>
                    </a:cubicBezTo>
                    <a:lnTo>
                      <a:pt x="194310" y="1277112"/>
                    </a:lnTo>
                    <a:cubicBezTo>
                      <a:pt x="86995" y="1277112"/>
                      <a:pt x="0" y="1190117"/>
                      <a:pt x="0" y="1082802"/>
                    </a:cubicBezTo>
                    <a:close/>
                  </a:path>
                </a:pathLst>
              </a:custGeom>
              <a:solidFill>
                <a:srgbClr val="E2F7EC"/>
              </a:solidFill>
              <a:ln w="11430" cap="sq">
                <a:solidFill>
                  <a:srgbClr val="E2F7E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047" name="Group 47"/>
            <p:cNvGrpSpPr/>
            <p:nvPr/>
          </p:nvGrpSpPr>
          <p:grpSpPr>
            <a:xfrm>
              <a:off x="6460236" y="5472684"/>
              <a:ext cx="1275588" cy="370332"/>
              <a:chOff x="0" y="0"/>
              <a:chExt cx="1700784" cy="493776"/>
            </a:xfrm>
          </p:grpSpPr>
          <p:sp>
            <p:nvSpPr>
              <p:cNvPr id="5048" name="Freeform 48"/>
              <p:cNvSpPr/>
              <p:nvPr/>
            </p:nvSpPr>
            <p:spPr>
              <a:xfrm>
                <a:off x="0" y="0"/>
                <a:ext cx="1700784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493776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493776"/>
                    </a:lnTo>
                    <a:lnTo>
                      <a:pt x="0" y="49377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7115" b="-1711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49" name="TextBox 49"/>
              <p:cNvSpPr txBox="1"/>
              <p:nvPr/>
            </p:nvSpPr>
            <p:spPr>
              <a:xfrm>
                <a:off x="0" y="0"/>
                <a:ext cx="1700784" cy="49377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65"/>
                  </a:lnSpc>
                </a:pPr>
                <a:r>
                  <a:rPr lang="en-US" sz="2137" b="1">
                    <a:solidFill>
                      <a:srgbClr val="17191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0.3%</a:t>
                </a:r>
              </a:p>
            </p:txBody>
          </p:sp>
        </p:grpSp>
        <p:grpSp>
          <p:nvGrpSpPr>
            <p:cNvPr id="5050" name="Group 50"/>
            <p:cNvGrpSpPr/>
            <p:nvPr/>
          </p:nvGrpSpPr>
          <p:grpSpPr>
            <a:xfrm>
              <a:off x="6460236" y="5904738"/>
              <a:ext cx="1275588" cy="246888"/>
              <a:chOff x="0" y="0"/>
              <a:chExt cx="1700784" cy="329184"/>
            </a:xfrm>
          </p:grpSpPr>
          <p:sp>
            <p:nvSpPr>
              <p:cNvPr id="5051" name="Freeform 51"/>
              <p:cNvSpPr/>
              <p:nvPr/>
            </p:nvSpPr>
            <p:spPr>
              <a:xfrm>
                <a:off x="0" y="0"/>
                <a:ext cx="1700784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329184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329184"/>
                    </a:lnTo>
                    <a:lnTo>
                      <a:pt x="0" y="3291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672" b="-5067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52" name="TextBox 52"/>
              <p:cNvSpPr txBox="1"/>
              <p:nvPr/>
            </p:nvSpPr>
            <p:spPr>
              <a:xfrm>
                <a:off x="0" y="0"/>
                <a:ext cx="1700784" cy="32918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39"/>
                  </a:lnSpc>
                </a:pPr>
                <a:r>
                  <a:rPr lang="en-US" sz="866" b="1">
                    <a:solidFill>
                      <a:srgbClr val="636A78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TOP OF 6,600+ APPLICANTS (PMI)</a:t>
                </a:r>
              </a:p>
            </p:txBody>
          </p:sp>
        </p:grpSp>
        <p:grpSp>
          <p:nvGrpSpPr>
            <p:cNvPr id="5053" name="Group 53"/>
            <p:cNvGrpSpPr/>
            <p:nvPr/>
          </p:nvGrpSpPr>
          <p:grpSpPr>
            <a:xfrm>
              <a:off x="8079867" y="5364099"/>
              <a:ext cx="1575054" cy="957834"/>
              <a:chOff x="0" y="0"/>
              <a:chExt cx="2100072" cy="1277112"/>
            </a:xfrm>
          </p:grpSpPr>
          <p:sp>
            <p:nvSpPr>
              <p:cNvPr id="5054" name="Freeform 54"/>
              <p:cNvSpPr/>
              <p:nvPr/>
            </p:nvSpPr>
            <p:spPr>
              <a:xfrm>
                <a:off x="0" y="0"/>
                <a:ext cx="2100072" cy="1277112"/>
              </a:xfrm>
              <a:custGeom>
                <a:avLst/>
                <a:gdLst/>
                <a:ahLst/>
                <a:cxnLst/>
                <a:rect l="l" t="t" r="r" b="b"/>
                <a:pathLst>
                  <a:path w="2100072" h="1277112">
                    <a:moveTo>
                      <a:pt x="0" y="194310"/>
                    </a:moveTo>
                    <a:cubicBezTo>
                      <a:pt x="0" y="86995"/>
                      <a:pt x="86995" y="0"/>
                      <a:pt x="194310" y="0"/>
                    </a:cubicBezTo>
                    <a:lnTo>
                      <a:pt x="1905762" y="0"/>
                    </a:lnTo>
                    <a:cubicBezTo>
                      <a:pt x="2013077" y="0"/>
                      <a:pt x="2100072" y="86995"/>
                      <a:pt x="2100072" y="194310"/>
                    </a:cubicBezTo>
                    <a:lnTo>
                      <a:pt x="2100072" y="1082802"/>
                    </a:lnTo>
                    <a:cubicBezTo>
                      <a:pt x="2100072" y="1190117"/>
                      <a:pt x="2013077" y="1277112"/>
                      <a:pt x="1905762" y="1277112"/>
                    </a:cubicBezTo>
                    <a:lnTo>
                      <a:pt x="194310" y="1277112"/>
                    </a:lnTo>
                    <a:cubicBezTo>
                      <a:pt x="86995" y="1277112"/>
                      <a:pt x="0" y="1190117"/>
                      <a:pt x="0" y="1082802"/>
                    </a:cubicBezTo>
                    <a:close/>
                  </a:path>
                </a:pathLst>
              </a:custGeom>
              <a:solidFill>
                <a:srgbClr val="FFF0E3"/>
              </a:solidFill>
              <a:ln w="11430" cap="sq">
                <a:solidFill>
                  <a:srgbClr val="FFF0E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055" name="Group 55"/>
            <p:cNvGrpSpPr/>
            <p:nvPr/>
          </p:nvGrpSpPr>
          <p:grpSpPr>
            <a:xfrm>
              <a:off x="8229600" y="5472684"/>
              <a:ext cx="1275588" cy="432816"/>
              <a:chOff x="0" y="0"/>
              <a:chExt cx="1700784" cy="577088"/>
            </a:xfrm>
          </p:grpSpPr>
          <p:sp>
            <p:nvSpPr>
              <p:cNvPr id="5056" name="Freeform 56"/>
              <p:cNvSpPr/>
              <p:nvPr/>
            </p:nvSpPr>
            <p:spPr>
              <a:xfrm>
                <a:off x="0" y="0"/>
                <a:ext cx="1700784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493776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493776"/>
                    </a:lnTo>
                    <a:lnTo>
                      <a:pt x="0" y="49377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7115" b="-1711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57" name="TextBox 57"/>
              <p:cNvSpPr txBox="1"/>
              <p:nvPr/>
            </p:nvSpPr>
            <p:spPr>
              <a:xfrm>
                <a:off x="0" y="83312"/>
                <a:ext cx="1700784" cy="49377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65"/>
                  </a:lnSpc>
                </a:pPr>
                <a:r>
                  <a:rPr lang="en-US" sz="2137" b="1">
                    <a:solidFill>
                      <a:srgbClr val="17191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05</a:t>
                </a:r>
              </a:p>
            </p:txBody>
          </p:sp>
        </p:grpSp>
        <p:grpSp>
          <p:nvGrpSpPr>
            <p:cNvPr id="5058" name="Group 58"/>
            <p:cNvGrpSpPr/>
            <p:nvPr/>
          </p:nvGrpSpPr>
          <p:grpSpPr>
            <a:xfrm>
              <a:off x="8229600" y="5962650"/>
              <a:ext cx="1275588" cy="323850"/>
              <a:chOff x="0" y="0"/>
              <a:chExt cx="1700784" cy="431800"/>
            </a:xfrm>
          </p:grpSpPr>
          <p:sp>
            <p:nvSpPr>
              <p:cNvPr id="5059" name="Freeform 59"/>
              <p:cNvSpPr/>
              <p:nvPr/>
            </p:nvSpPr>
            <p:spPr>
              <a:xfrm>
                <a:off x="0" y="0"/>
                <a:ext cx="1700784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329184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329184"/>
                    </a:lnTo>
                    <a:lnTo>
                      <a:pt x="0" y="3291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0672" b="-5067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60" name="TextBox 60"/>
              <p:cNvSpPr txBox="1"/>
              <p:nvPr/>
            </p:nvSpPr>
            <p:spPr>
              <a:xfrm>
                <a:off x="0" y="102616"/>
                <a:ext cx="1700784" cy="32918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39"/>
                  </a:lnSpc>
                </a:pPr>
                <a:r>
                  <a:rPr lang="en-US" sz="866" b="1">
                    <a:solidFill>
                      <a:srgbClr val="636A78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NATIONAL AWARDS &amp; DELEGATIONS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5785" y="9824085"/>
            <a:ext cx="2263140" cy="185166"/>
            <a:chOff x="0" y="0"/>
            <a:chExt cx="3017520" cy="246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7520" cy="246888"/>
            </a:xfrm>
            <a:custGeom>
              <a:avLst/>
              <a:gdLst/>
              <a:ahLst/>
              <a:cxnLst/>
              <a:rect l="l" t="t" r="r" b="b"/>
              <a:pathLst>
                <a:path w="3017520" h="246888">
                  <a:moveTo>
                    <a:pt x="0" y="0"/>
                  </a:moveTo>
                  <a:lnTo>
                    <a:pt x="3017520" y="0"/>
                  </a:lnTo>
                  <a:lnTo>
                    <a:pt x="301752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01752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@marvelm69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51885" y="9824085"/>
            <a:ext cx="2983230" cy="185166"/>
            <a:chOff x="0" y="0"/>
            <a:chExt cx="3977640" cy="2468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77640" cy="246888"/>
            </a:xfrm>
            <a:custGeom>
              <a:avLst/>
              <a:gdLst/>
              <a:ahLst/>
              <a:cxnLst/>
              <a:rect l="l" t="t" r="r" b="b"/>
              <a:pathLst>
                <a:path w="3977640" h="246888">
                  <a:moveTo>
                    <a:pt x="0" y="0"/>
                  </a:moveTo>
                  <a:lnTo>
                    <a:pt x="3977640" y="0"/>
                  </a:lnTo>
                  <a:lnTo>
                    <a:pt x="397764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3925" b="-2639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397764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marvel.m818@gmail.com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43725" y="9824085"/>
            <a:ext cx="2777490" cy="185166"/>
            <a:chOff x="0" y="0"/>
            <a:chExt cx="3703320" cy="2468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03320" cy="246888"/>
            </a:xfrm>
            <a:custGeom>
              <a:avLst/>
              <a:gdLst/>
              <a:ahLst/>
              <a:cxnLst/>
              <a:rect l="l" t="t" r="r" b="b"/>
              <a:pathLst>
                <a:path w="3703320" h="246888">
                  <a:moveTo>
                    <a:pt x="0" y="0"/>
                  </a:moveTo>
                  <a:lnTo>
                    <a:pt x="3703320" y="0"/>
                  </a:lnTo>
                  <a:lnTo>
                    <a:pt x="370332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370332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marvel-portfolio-two.vercel.app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5785" y="514350"/>
            <a:ext cx="720090" cy="360045"/>
            <a:chOff x="0" y="0"/>
            <a:chExt cx="960120" cy="4800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60120" cy="480060"/>
            </a:xfrm>
            <a:custGeom>
              <a:avLst/>
              <a:gdLst/>
              <a:ahLst/>
              <a:cxnLst/>
              <a:rect l="l" t="t" r="r" b="b"/>
              <a:pathLst>
                <a:path w="960120" h="480060">
                  <a:moveTo>
                    <a:pt x="0" y="0"/>
                  </a:moveTo>
                  <a:lnTo>
                    <a:pt x="960120" y="0"/>
                  </a:lnTo>
                  <a:lnTo>
                    <a:pt x="960120" y="480060"/>
                  </a:lnTo>
                  <a:lnTo>
                    <a:pt x="0" y="4800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960120" cy="4895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496CFF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65785" y="1028700"/>
            <a:ext cx="915543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1" dirty="0">
                <a:solidFill>
                  <a:srgbClr val="17191F"/>
                </a:solidFill>
                <a:latin typeface="Inter Bold"/>
                <a:ea typeface="Inter Bold"/>
                <a:cs typeface="Inter Bold"/>
                <a:sym typeface="Inter Bold"/>
              </a:rPr>
              <a:t>Real-time breast-cancer IHC intelligence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89502" y="2070830"/>
            <a:ext cx="1300162" cy="343472"/>
            <a:chOff x="0" y="0"/>
            <a:chExt cx="1733550" cy="45796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33550" cy="457835"/>
            </a:xfrm>
            <a:custGeom>
              <a:avLst/>
              <a:gdLst/>
              <a:ahLst/>
              <a:cxnLst/>
              <a:rect l="l" t="t" r="r" b="b"/>
              <a:pathLst>
                <a:path w="1733550" h="457835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618996" y="0"/>
                  </a:lnTo>
                  <a:cubicBezTo>
                    <a:pt x="1682242" y="0"/>
                    <a:pt x="1733550" y="51308"/>
                    <a:pt x="1733550" y="114427"/>
                  </a:cubicBezTo>
                  <a:lnTo>
                    <a:pt x="1733550" y="343408"/>
                  </a:lnTo>
                  <a:cubicBezTo>
                    <a:pt x="1733550" y="406654"/>
                    <a:pt x="1682242" y="457835"/>
                    <a:pt x="1618996" y="457835"/>
                  </a:cubicBezTo>
                  <a:lnTo>
                    <a:pt x="114427" y="457835"/>
                  </a:lnTo>
                  <a:cubicBezTo>
                    <a:pt x="51308" y="457962"/>
                    <a:pt x="0" y="406654"/>
                    <a:pt x="0" y="343408"/>
                  </a:cubicBezTo>
                  <a:close/>
                </a:path>
              </a:pathLst>
            </a:custGeom>
            <a:solidFill>
              <a:srgbClr val="FFEAF5"/>
            </a:solidFill>
            <a:ln w="14288" cap="sq">
              <a:solidFill>
                <a:srgbClr val="FFEAF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49652" y="2099976"/>
            <a:ext cx="1179861" cy="28803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1147"/>
              </a:lnSpc>
            </a:pPr>
            <a:r>
              <a:rPr lang="en-US" sz="956" b="1" dirty="0">
                <a:solidFill>
                  <a:srgbClr val="17191F"/>
                </a:solidFill>
                <a:latin typeface="Inter Bold"/>
                <a:ea typeface="Inter Bold"/>
                <a:cs typeface="Inter Bold"/>
                <a:sym typeface="Inter Bold"/>
              </a:rPr>
              <a:t>GROUP RESEARCH</a:t>
            </a:r>
          </a:p>
        </p:txBody>
      </p:sp>
      <p:sp>
        <p:nvSpPr>
          <p:cNvPr id="24" name="Freeform 24"/>
          <p:cNvSpPr/>
          <p:nvPr/>
        </p:nvSpPr>
        <p:spPr>
          <a:xfrm>
            <a:off x="2019300" y="2057400"/>
            <a:ext cx="2971800" cy="343377"/>
          </a:xfrm>
          <a:custGeom>
            <a:avLst/>
            <a:gdLst/>
            <a:ahLst/>
            <a:cxnLst/>
            <a:rect l="l" t="t" r="r" b="b"/>
            <a:pathLst>
              <a:path w="3379343" h="457835">
                <a:moveTo>
                  <a:pt x="0" y="114427"/>
                </a:moveTo>
                <a:cubicBezTo>
                  <a:pt x="0" y="51308"/>
                  <a:pt x="51308" y="0"/>
                  <a:pt x="114427" y="0"/>
                </a:cubicBezTo>
                <a:lnTo>
                  <a:pt x="3264916" y="0"/>
                </a:lnTo>
                <a:cubicBezTo>
                  <a:pt x="3328162" y="0"/>
                  <a:pt x="3379343" y="51308"/>
                  <a:pt x="3379343" y="114427"/>
                </a:cubicBezTo>
                <a:lnTo>
                  <a:pt x="3379343" y="343408"/>
                </a:lnTo>
                <a:cubicBezTo>
                  <a:pt x="3379343" y="406654"/>
                  <a:pt x="3328035" y="457835"/>
                  <a:pt x="3264916" y="457835"/>
                </a:cubicBezTo>
                <a:lnTo>
                  <a:pt x="114427" y="457835"/>
                </a:lnTo>
                <a:cubicBezTo>
                  <a:pt x="51308" y="457962"/>
                  <a:pt x="0" y="406654"/>
                  <a:pt x="0" y="343408"/>
                </a:cubicBezTo>
                <a:close/>
              </a:path>
            </a:pathLst>
          </a:custGeom>
          <a:solidFill>
            <a:srgbClr val="E8EEFF"/>
          </a:solidFill>
          <a:ln w="14288" cap="sq">
            <a:solidFill>
              <a:srgbClr val="E8EEFF"/>
            </a:solidFill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903" name="Group 902">
            <a:extLst>
              <a:ext uri="{FF2B5EF4-FFF2-40B4-BE49-F238E27FC236}">
                <a16:creationId xmlns:a16="http://schemas.microsoft.com/office/drawing/2014/main" id="{ECBB25E7-43E7-85FE-ED40-BC97ABF9A58D}"/>
              </a:ext>
            </a:extLst>
          </p:cNvPr>
          <p:cNvGrpSpPr/>
          <p:nvPr/>
        </p:nvGrpSpPr>
        <p:grpSpPr>
          <a:xfrm>
            <a:off x="6339966" y="4039720"/>
            <a:ext cx="3344418" cy="2089404"/>
            <a:chOff x="6310503" y="4232529"/>
            <a:chExt cx="3344418" cy="2089404"/>
          </a:xfrm>
        </p:grpSpPr>
        <p:grpSp>
          <p:nvGrpSpPr>
            <p:cNvPr id="29" name="Group 29"/>
            <p:cNvGrpSpPr/>
            <p:nvPr/>
          </p:nvGrpSpPr>
          <p:grpSpPr>
            <a:xfrm>
              <a:off x="6310503" y="4232529"/>
              <a:ext cx="1575054" cy="957834"/>
              <a:chOff x="0" y="0"/>
              <a:chExt cx="2100072" cy="127711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100072" cy="1277112"/>
              </a:xfrm>
              <a:custGeom>
                <a:avLst/>
                <a:gdLst/>
                <a:ahLst/>
                <a:cxnLst/>
                <a:rect l="l" t="t" r="r" b="b"/>
                <a:pathLst>
                  <a:path w="2100072" h="1277112">
                    <a:moveTo>
                      <a:pt x="0" y="194310"/>
                    </a:moveTo>
                    <a:cubicBezTo>
                      <a:pt x="0" y="86995"/>
                      <a:pt x="86995" y="0"/>
                      <a:pt x="194310" y="0"/>
                    </a:cubicBezTo>
                    <a:lnTo>
                      <a:pt x="1905762" y="0"/>
                    </a:lnTo>
                    <a:cubicBezTo>
                      <a:pt x="2013077" y="0"/>
                      <a:pt x="2100072" y="86995"/>
                      <a:pt x="2100072" y="194310"/>
                    </a:cubicBezTo>
                    <a:lnTo>
                      <a:pt x="2100072" y="1082802"/>
                    </a:lnTo>
                    <a:cubicBezTo>
                      <a:pt x="2100072" y="1190117"/>
                      <a:pt x="2013077" y="1277112"/>
                      <a:pt x="1905762" y="1277112"/>
                    </a:cubicBezTo>
                    <a:lnTo>
                      <a:pt x="194310" y="1277112"/>
                    </a:lnTo>
                    <a:cubicBezTo>
                      <a:pt x="86995" y="1277112"/>
                      <a:pt x="0" y="1190117"/>
                      <a:pt x="0" y="1082802"/>
                    </a:cubicBezTo>
                    <a:close/>
                  </a:path>
                </a:pathLst>
              </a:custGeom>
              <a:solidFill>
                <a:srgbClr val="FFEAF5"/>
              </a:solidFill>
              <a:ln w="11430" cap="sq">
                <a:solidFill>
                  <a:srgbClr val="FFEAF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460236" y="4341114"/>
              <a:ext cx="1275588" cy="370332"/>
              <a:chOff x="0" y="0"/>
              <a:chExt cx="1700784" cy="49377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00784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493776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493776"/>
                    </a:lnTo>
                    <a:lnTo>
                      <a:pt x="0" y="49377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7115" b="-1711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0"/>
                <a:ext cx="1700784" cy="49377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65"/>
                  </a:lnSpc>
                </a:pPr>
                <a:r>
                  <a:rPr lang="en-US" sz="2137" b="1" dirty="0">
                    <a:solidFill>
                      <a:srgbClr val="17191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23,154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460236" y="4773168"/>
              <a:ext cx="1275588" cy="246888"/>
              <a:chOff x="0" y="0"/>
              <a:chExt cx="1700784" cy="32918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00784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329184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329184"/>
                    </a:lnTo>
                    <a:lnTo>
                      <a:pt x="0" y="32918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0672" b="-5067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0"/>
                <a:ext cx="1700784" cy="32918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39"/>
                  </a:lnSpc>
                </a:pPr>
                <a:r>
                  <a:rPr lang="en-US" sz="866" b="1">
                    <a:solidFill>
                      <a:srgbClr val="636A78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IHC IMAGES • TWO TERTIARY HOSPITALS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079867" y="4232529"/>
              <a:ext cx="1575054" cy="957834"/>
              <a:chOff x="0" y="0"/>
              <a:chExt cx="2100072" cy="127711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2100072" cy="1277112"/>
              </a:xfrm>
              <a:custGeom>
                <a:avLst/>
                <a:gdLst/>
                <a:ahLst/>
                <a:cxnLst/>
                <a:rect l="l" t="t" r="r" b="b"/>
                <a:pathLst>
                  <a:path w="2100072" h="1277112">
                    <a:moveTo>
                      <a:pt x="0" y="194310"/>
                    </a:moveTo>
                    <a:cubicBezTo>
                      <a:pt x="0" y="86995"/>
                      <a:pt x="86995" y="0"/>
                      <a:pt x="194310" y="0"/>
                    </a:cubicBezTo>
                    <a:lnTo>
                      <a:pt x="1905762" y="0"/>
                    </a:lnTo>
                    <a:cubicBezTo>
                      <a:pt x="2013077" y="0"/>
                      <a:pt x="2100072" y="86995"/>
                      <a:pt x="2100072" y="194310"/>
                    </a:cubicBezTo>
                    <a:lnTo>
                      <a:pt x="2100072" y="1082802"/>
                    </a:lnTo>
                    <a:cubicBezTo>
                      <a:pt x="2100072" y="1190117"/>
                      <a:pt x="2013077" y="1277112"/>
                      <a:pt x="1905762" y="1277112"/>
                    </a:cubicBezTo>
                    <a:lnTo>
                      <a:pt x="194310" y="1277112"/>
                    </a:lnTo>
                    <a:cubicBezTo>
                      <a:pt x="86995" y="1277112"/>
                      <a:pt x="0" y="1190117"/>
                      <a:pt x="0" y="1082802"/>
                    </a:cubicBezTo>
                    <a:close/>
                  </a:path>
                </a:pathLst>
              </a:custGeom>
              <a:solidFill>
                <a:srgbClr val="E8EEFF"/>
              </a:solidFill>
              <a:ln w="11430" cap="sq">
                <a:solidFill>
                  <a:srgbClr val="E8EE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8229600" y="4341114"/>
              <a:ext cx="1275588" cy="370332"/>
              <a:chOff x="0" y="0"/>
              <a:chExt cx="1700784" cy="49377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700784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493776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493776"/>
                    </a:lnTo>
                    <a:lnTo>
                      <a:pt x="0" y="49377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7115" b="-1711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0"/>
                <a:ext cx="1700784" cy="49377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65"/>
                  </a:lnSpc>
                </a:pPr>
                <a:r>
                  <a:rPr lang="en-US" sz="2137" b="1" dirty="0">
                    <a:solidFill>
                      <a:srgbClr val="496C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99.7%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229600" y="4773168"/>
              <a:ext cx="1275588" cy="246888"/>
              <a:chOff x="0" y="0"/>
              <a:chExt cx="1700784" cy="32918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700784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329184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329184"/>
                    </a:lnTo>
                    <a:lnTo>
                      <a:pt x="0" y="32918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0672" b="-5067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0"/>
                <a:ext cx="1700784" cy="32918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39"/>
                  </a:lnSpc>
                </a:pPr>
                <a:r>
                  <a:rPr lang="en-US" sz="866" b="1">
                    <a:solidFill>
                      <a:srgbClr val="636A78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UP TO ACCURACY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310503" y="5364099"/>
              <a:ext cx="1575054" cy="957834"/>
              <a:chOff x="0" y="0"/>
              <a:chExt cx="2100072" cy="127711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2100072" cy="1277112"/>
              </a:xfrm>
              <a:custGeom>
                <a:avLst/>
                <a:gdLst/>
                <a:ahLst/>
                <a:cxnLst/>
                <a:rect l="l" t="t" r="r" b="b"/>
                <a:pathLst>
                  <a:path w="2100072" h="1277112">
                    <a:moveTo>
                      <a:pt x="0" y="194310"/>
                    </a:moveTo>
                    <a:cubicBezTo>
                      <a:pt x="0" y="86995"/>
                      <a:pt x="86995" y="0"/>
                      <a:pt x="194310" y="0"/>
                    </a:cubicBezTo>
                    <a:lnTo>
                      <a:pt x="1905762" y="0"/>
                    </a:lnTo>
                    <a:cubicBezTo>
                      <a:pt x="2013077" y="0"/>
                      <a:pt x="2100072" y="86995"/>
                      <a:pt x="2100072" y="194310"/>
                    </a:cubicBezTo>
                    <a:lnTo>
                      <a:pt x="2100072" y="1082802"/>
                    </a:lnTo>
                    <a:cubicBezTo>
                      <a:pt x="2100072" y="1190117"/>
                      <a:pt x="2013077" y="1277112"/>
                      <a:pt x="1905762" y="1277112"/>
                    </a:cubicBezTo>
                    <a:lnTo>
                      <a:pt x="194310" y="1277112"/>
                    </a:lnTo>
                    <a:cubicBezTo>
                      <a:pt x="86995" y="1277112"/>
                      <a:pt x="0" y="1190117"/>
                      <a:pt x="0" y="1082802"/>
                    </a:cubicBezTo>
                    <a:close/>
                  </a:path>
                </a:pathLst>
              </a:custGeom>
              <a:solidFill>
                <a:srgbClr val="E2F7EC"/>
              </a:solidFill>
              <a:ln w="11430" cap="sq">
                <a:solidFill>
                  <a:srgbClr val="E2F7E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460236" y="5472684"/>
              <a:ext cx="1275588" cy="370332"/>
              <a:chOff x="0" y="0"/>
              <a:chExt cx="1700784" cy="49377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700784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493776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493776"/>
                    </a:lnTo>
                    <a:lnTo>
                      <a:pt x="0" y="49377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7115" b="-1711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0"/>
                <a:ext cx="1700784" cy="49377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65"/>
                  </a:lnSpc>
                </a:pPr>
                <a:r>
                  <a:rPr lang="en-US" sz="2137" b="1">
                    <a:solidFill>
                      <a:srgbClr val="17191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99.4%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6460236" y="5904738"/>
              <a:ext cx="1275588" cy="246888"/>
              <a:chOff x="0" y="0"/>
              <a:chExt cx="1700784" cy="329184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700784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329184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329184"/>
                    </a:lnTo>
                    <a:lnTo>
                      <a:pt x="0" y="32918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0672" b="-5067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0"/>
                <a:ext cx="1700784" cy="32918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39"/>
                  </a:lnSpc>
                </a:pPr>
                <a:r>
                  <a:rPr lang="en-US" sz="866" b="1" dirty="0">
                    <a:solidFill>
                      <a:srgbClr val="636A78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ROC–AUC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8079867" y="5364099"/>
              <a:ext cx="1575054" cy="957834"/>
              <a:chOff x="0" y="0"/>
              <a:chExt cx="2100072" cy="127711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2100072" cy="1277112"/>
              </a:xfrm>
              <a:custGeom>
                <a:avLst/>
                <a:gdLst/>
                <a:ahLst/>
                <a:cxnLst/>
                <a:rect l="l" t="t" r="r" b="b"/>
                <a:pathLst>
                  <a:path w="2100072" h="1277112">
                    <a:moveTo>
                      <a:pt x="0" y="194310"/>
                    </a:moveTo>
                    <a:cubicBezTo>
                      <a:pt x="0" y="86995"/>
                      <a:pt x="86995" y="0"/>
                      <a:pt x="194310" y="0"/>
                    </a:cubicBezTo>
                    <a:lnTo>
                      <a:pt x="1905762" y="0"/>
                    </a:lnTo>
                    <a:cubicBezTo>
                      <a:pt x="2013077" y="0"/>
                      <a:pt x="2100072" y="86995"/>
                      <a:pt x="2100072" y="194310"/>
                    </a:cubicBezTo>
                    <a:lnTo>
                      <a:pt x="2100072" y="1082802"/>
                    </a:lnTo>
                    <a:cubicBezTo>
                      <a:pt x="2100072" y="1190117"/>
                      <a:pt x="2013077" y="1277112"/>
                      <a:pt x="1905762" y="1277112"/>
                    </a:cubicBezTo>
                    <a:lnTo>
                      <a:pt x="194310" y="1277112"/>
                    </a:lnTo>
                    <a:cubicBezTo>
                      <a:pt x="86995" y="1277112"/>
                      <a:pt x="0" y="1190117"/>
                      <a:pt x="0" y="1082802"/>
                    </a:cubicBezTo>
                    <a:close/>
                  </a:path>
                </a:pathLst>
              </a:custGeom>
              <a:solidFill>
                <a:srgbClr val="FFF0E3"/>
              </a:solidFill>
              <a:ln w="11430" cap="sq">
                <a:solidFill>
                  <a:srgbClr val="FFF0E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8229600" y="5472684"/>
              <a:ext cx="1275588" cy="432816"/>
              <a:chOff x="0" y="0"/>
              <a:chExt cx="1700784" cy="57708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700784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493776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493776"/>
                    </a:lnTo>
                    <a:lnTo>
                      <a:pt x="0" y="49377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7115" b="-1711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83312"/>
                <a:ext cx="1700784" cy="49377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65"/>
                  </a:lnSpc>
                </a:pPr>
                <a:r>
                  <a:rPr lang="en-US" sz="2137" b="1" dirty="0">
                    <a:solidFill>
                      <a:srgbClr val="17191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REAL-TIME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229600" y="5962650"/>
              <a:ext cx="1275588" cy="323850"/>
              <a:chOff x="0" y="0"/>
              <a:chExt cx="1700784" cy="431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700784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329184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329184"/>
                    </a:lnTo>
                    <a:lnTo>
                      <a:pt x="0" y="32918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0672" b="-5067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102616"/>
                <a:ext cx="1700784" cy="32918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39"/>
                  </a:lnSpc>
                </a:pPr>
                <a:r>
                  <a:rPr lang="en-US" sz="866" b="1" dirty="0">
                    <a:solidFill>
                      <a:srgbClr val="636A78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MICROSCOPE → DISPLAY SETUP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6377940" y="6315561"/>
            <a:ext cx="3343275" cy="226314"/>
            <a:chOff x="0" y="0"/>
            <a:chExt cx="4457700" cy="30175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457700" cy="301752"/>
            </a:xfrm>
            <a:custGeom>
              <a:avLst/>
              <a:gdLst/>
              <a:ahLst/>
              <a:cxnLst/>
              <a:rect l="l" t="t" r="r" b="b"/>
              <a:pathLst>
                <a:path w="4457700" h="301752">
                  <a:moveTo>
                    <a:pt x="0" y="0"/>
                  </a:moveTo>
                  <a:lnTo>
                    <a:pt x="4457700" y="0"/>
                  </a:lnTo>
                  <a:lnTo>
                    <a:pt x="4457700" y="301752"/>
                  </a:lnTo>
                  <a:lnTo>
                    <a:pt x="0" y="301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7847" b="-2378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4457700" cy="301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26"/>
                </a:lnSpc>
              </a:pPr>
              <a:r>
                <a:rPr lang="en-US" sz="855" b="1" spc="123" dirty="0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IMPACT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6377940" y="6594072"/>
            <a:ext cx="3343275" cy="770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dirty="0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A clinically oriented end-to-end prototype that keeps workflow and inference latency in view — not just offline model scores.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377940" y="7447131"/>
            <a:ext cx="3343275" cy="226314"/>
            <a:chOff x="0" y="0"/>
            <a:chExt cx="4457700" cy="30175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457700" cy="301752"/>
            </a:xfrm>
            <a:custGeom>
              <a:avLst/>
              <a:gdLst/>
              <a:ahLst/>
              <a:cxnLst/>
              <a:rect l="l" t="t" r="r" b="b"/>
              <a:pathLst>
                <a:path w="4457700" h="301752">
                  <a:moveTo>
                    <a:pt x="0" y="0"/>
                  </a:moveTo>
                  <a:lnTo>
                    <a:pt x="4457700" y="0"/>
                  </a:lnTo>
                  <a:lnTo>
                    <a:pt x="4457700" y="301752"/>
                  </a:lnTo>
                  <a:lnTo>
                    <a:pt x="0" y="301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7847" b="-2378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4457700" cy="301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26"/>
                </a:lnSpc>
              </a:pPr>
              <a:r>
                <a:rPr lang="en-US" sz="855" b="1" spc="123" dirty="0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WHAT I LEARNED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6377940" y="7725642"/>
            <a:ext cx="3343275" cy="770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A technically strong model is only useful when it fits the environment, decision flow, and people around it.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709785" y="405765"/>
            <a:ext cx="717118" cy="24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C4C8D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  <p:pic>
        <p:nvPicPr>
          <p:cNvPr id="900" name="Project visu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39" y="2880360"/>
            <a:ext cx="5197891" cy="3441573"/>
          </a:xfrm>
          <a:prstGeom prst="rect">
            <a:avLst/>
          </a:prstGeom>
        </p:spPr>
      </p:pic>
      <p:grpSp>
        <p:nvGrpSpPr>
          <p:cNvPr id="899" name="Group 25">
            <a:extLst>
              <a:ext uri="{FF2B5EF4-FFF2-40B4-BE49-F238E27FC236}">
                <a16:creationId xmlns:a16="http://schemas.microsoft.com/office/drawing/2014/main" id="{0644B59C-85FD-8614-47BD-97852FEFE1C3}"/>
              </a:ext>
            </a:extLst>
          </p:cNvPr>
          <p:cNvGrpSpPr/>
          <p:nvPr/>
        </p:nvGrpSpPr>
        <p:grpSpPr>
          <a:xfrm>
            <a:off x="2073783" y="2088261"/>
            <a:ext cx="2917317" cy="298275"/>
            <a:chOff x="-86685" y="0"/>
            <a:chExt cx="3318722" cy="397700"/>
          </a:xfrm>
        </p:grpSpPr>
        <p:sp>
          <p:nvSpPr>
            <p:cNvPr id="901" name="Freeform 26">
              <a:extLst>
                <a:ext uri="{FF2B5EF4-FFF2-40B4-BE49-F238E27FC236}">
                  <a16:creationId xmlns:a16="http://schemas.microsoft.com/office/drawing/2014/main" id="{4ED0EDFF-E55C-E143-3654-6CFE8BB181FB}"/>
                </a:ext>
              </a:extLst>
            </p:cNvPr>
            <p:cNvSpPr/>
            <p:nvPr/>
          </p:nvSpPr>
          <p:spPr>
            <a:xfrm>
              <a:off x="0" y="0"/>
              <a:ext cx="3058668" cy="384048"/>
            </a:xfrm>
            <a:custGeom>
              <a:avLst/>
              <a:gdLst/>
              <a:ahLst/>
              <a:cxnLst/>
              <a:rect l="l" t="t" r="r" b="b"/>
              <a:pathLst>
                <a:path w="3058668" h="384048">
                  <a:moveTo>
                    <a:pt x="0" y="0"/>
                  </a:moveTo>
                  <a:lnTo>
                    <a:pt x="3058668" y="0"/>
                  </a:lnTo>
                  <a:lnTo>
                    <a:pt x="305866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184" b="-10518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02" name="TextBox 27">
              <a:extLst>
                <a:ext uri="{FF2B5EF4-FFF2-40B4-BE49-F238E27FC236}">
                  <a16:creationId xmlns:a16="http://schemas.microsoft.com/office/drawing/2014/main" id="{1B9BC346-9953-0F96-E9D5-CDDA7869AFC5}"/>
                </a:ext>
              </a:extLst>
            </p:cNvPr>
            <p:cNvSpPr txBox="1"/>
            <p:nvPr/>
          </p:nvSpPr>
          <p:spPr>
            <a:xfrm>
              <a:off x="-86685" y="13652"/>
              <a:ext cx="3318722" cy="384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47"/>
                </a:lnSpc>
              </a:pPr>
              <a:r>
                <a:rPr lang="en-US" sz="956" b="1" dirty="0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ROLE • ALGORITHM &amp; APPLICATION DEVELOPER</a:t>
              </a:r>
            </a:p>
          </p:txBody>
        </p:sp>
      </p:grpSp>
      <p:grpSp>
        <p:nvGrpSpPr>
          <p:cNvPr id="906" name="Group 905">
            <a:extLst>
              <a:ext uri="{FF2B5EF4-FFF2-40B4-BE49-F238E27FC236}">
                <a16:creationId xmlns:a16="http://schemas.microsoft.com/office/drawing/2014/main" id="{2707C2DB-95EA-67D0-4BD1-B5B594961C32}"/>
              </a:ext>
            </a:extLst>
          </p:cNvPr>
          <p:cNvGrpSpPr/>
          <p:nvPr/>
        </p:nvGrpSpPr>
        <p:grpSpPr>
          <a:xfrm>
            <a:off x="6341110" y="2822246"/>
            <a:ext cx="3347720" cy="1051402"/>
            <a:chOff x="6366510" y="3736843"/>
            <a:chExt cx="3347720" cy="1051402"/>
          </a:xfrm>
        </p:grpSpPr>
        <p:sp>
          <p:nvSpPr>
            <p:cNvPr id="28" name="TextBox 28"/>
            <p:cNvSpPr txBox="1"/>
            <p:nvPr/>
          </p:nvSpPr>
          <p:spPr>
            <a:xfrm>
              <a:off x="6366510" y="3980780"/>
              <a:ext cx="3343275" cy="807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20"/>
                </a:lnSpc>
              </a:pPr>
              <a:r>
                <a:rPr lang="en-US" sz="1240" dirty="0">
                  <a:solidFill>
                    <a:srgbClr val="17191F"/>
                  </a:solidFill>
                  <a:latin typeface="Inter"/>
                  <a:ea typeface="Inter"/>
                  <a:cs typeface="Inter"/>
                  <a:sym typeface="Inter"/>
                </a:rPr>
                <a:t>A multimodal ensemble system designed to determine immunohistochemical profiles and support downstream subtype, prognosis, and therapy-oriented decisions in real time.</a:t>
              </a:r>
            </a:p>
          </p:txBody>
        </p:sp>
        <p:sp>
          <p:nvSpPr>
            <p:cNvPr id="905" name="TextBox 63">
              <a:extLst>
                <a:ext uri="{FF2B5EF4-FFF2-40B4-BE49-F238E27FC236}">
                  <a16:creationId xmlns:a16="http://schemas.microsoft.com/office/drawing/2014/main" id="{6B4AD9DA-EC30-6B36-8955-BFAA619FE4F6}"/>
                </a:ext>
              </a:extLst>
            </p:cNvPr>
            <p:cNvSpPr txBox="1"/>
            <p:nvPr/>
          </p:nvSpPr>
          <p:spPr>
            <a:xfrm>
              <a:off x="6370955" y="3736843"/>
              <a:ext cx="3343275" cy="2263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26"/>
                </a:lnSpc>
              </a:pPr>
              <a:r>
                <a:rPr lang="en-US" sz="855" b="1" spc="123" dirty="0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DESCRIPTION</a:t>
              </a:r>
            </a:p>
          </p:txBody>
        </p:sp>
      </p:grpSp>
      <p:pic>
        <p:nvPicPr>
          <p:cNvPr id="907" name="Picture 906">
            <a:extLst>
              <a:ext uri="{FF2B5EF4-FFF2-40B4-BE49-F238E27FC236}">
                <a16:creationId xmlns:a16="http://schemas.microsoft.com/office/drawing/2014/main" id="{2D1702D7-1FDA-0E67-E89D-F98AD53D2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52" y="6911581"/>
            <a:ext cx="2420398" cy="1361474"/>
          </a:xfrm>
          <a:prstGeom prst="rect">
            <a:avLst/>
          </a:prstGeom>
        </p:spPr>
      </p:pic>
      <p:pic>
        <p:nvPicPr>
          <p:cNvPr id="908" name="Picture 907">
            <a:extLst>
              <a:ext uri="{FF2B5EF4-FFF2-40B4-BE49-F238E27FC236}">
                <a16:creationId xmlns:a16="http://schemas.microsoft.com/office/drawing/2014/main" id="{EB472227-E827-F608-3161-1E4F797C8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6911581"/>
            <a:ext cx="2420398" cy="1361474"/>
          </a:xfrm>
          <a:prstGeom prst="rect">
            <a:avLst/>
          </a:prstGeom>
        </p:spPr>
      </p:pic>
      <p:sp>
        <p:nvSpPr>
          <p:cNvPr id="910" name="TextBox 17">
            <a:extLst>
              <a:ext uri="{FF2B5EF4-FFF2-40B4-BE49-F238E27FC236}">
                <a16:creationId xmlns:a16="http://schemas.microsoft.com/office/drawing/2014/main" id="{FCFE1A22-7E10-EED3-C2D7-7ACF692FD928}"/>
              </a:ext>
            </a:extLst>
          </p:cNvPr>
          <p:cNvSpPr txBox="1"/>
          <p:nvPr/>
        </p:nvSpPr>
        <p:spPr>
          <a:xfrm>
            <a:off x="649652" y="6457503"/>
            <a:ext cx="1663700" cy="413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1" dirty="0">
                <a:solidFill>
                  <a:srgbClr val="00B050"/>
                </a:solidFill>
                <a:latin typeface="Inter Bold"/>
                <a:ea typeface="Inter Bold"/>
                <a:cs typeface="Inter Bold"/>
                <a:sym typeface="Inter Bold"/>
              </a:rPr>
              <a:t>POSITIVE</a:t>
            </a:r>
          </a:p>
        </p:txBody>
      </p:sp>
      <p:sp>
        <p:nvSpPr>
          <p:cNvPr id="912" name="TextBox 17">
            <a:extLst>
              <a:ext uri="{FF2B5EF4-FFF2-40B4-BE49-F238E27FC236}">
                <a16:creationId xmlns:a16="http://schemas.microsoft.com/office/drawing/2014/main" id="{266FF635-88EF-5A56-95D7-D867C174D826}"/>
              </a:ext>
            </a:extLst>
          </p:cNvPr>
          <p:cNvSpPr txBox="1"/>
          <p:nvPr/>
        </p:nvSpPr>
        <p:spPr>
          <a:xfrm>
            <a:off x="3909061" y="6457503"/>
            <a:ext cx="1869806" cy="413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1" dirty="0">
                <a:solidFill>
                  <a:srgbClr val="FF0000"/>
                </a:solidFill>
                <a:latin typeface="Inter Bold"/>
                <a:ea typeface="Inter Bold"/>
                <a:cs typeface="Inter Bold"/>
                <a:sym typeface="Inter Bold"/>
              </a:rPr>
              <a:t>NEGATIVE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5785" y="9824085"/>
            <a:ext cx="2263140" cy="185166"/>
            <a:chOff x="0" y="0"/>
            <a:chExt cx="3017520" cy="246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7520" cy="246888"/>
            </a:xfrm>
            <a:custGeom>
              <a:avLst/>
              <a:gdLst/>
              <a:ahLst/>
              <a:cxnLst/>
              <a:rect l="l" t="t" r="r" b="b"/>
              <a:pathLst>
                <a:path w="3017520" h="246888">
                  <a:moveTo>
                    <a:pt x="0" y="0"/>
                  </a:moveTo>
                  <a:lnTo>
                    <a:pt x="3017520" y="0"/>
                  </a:lnTo>
                  <a:lnTo>
                    <a:pt x="301752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01752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@marvelm69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51885" y="9824085"/>
            <a:ext cx="2983230" cy="185166"/>
            <a:chOff x="0" y="0"/>
            <a:chExt cx="3977640" cy="2468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77640" cy="246888"/>
            </a:xfrm>
            <a:custGeom>
              <a:avLst/>
              <a:gdLst/>
              <a:ahLst/>
              <a:cxnLst/>
              <a:rect l="l" t="t" r="r" b="b"/>
              <a:pathLst>
                <a:path w="3977640" h="246888">
                  <a:moveTo>
                    <a:pt x="0" y="0"/>
                  </a:moveTo>
                  <a:lnTo>
                    <a:pt x="3977640" y="0"/>
                  </a:lnTo>
                  <a:lnTo>
                    <a:pt x="397764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3925" b="-2639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397764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marvel.m818@gmail.com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43725" y="9824085"/>
            <a:ext cx="2777490" cy="185166"/>
            <a:chOff x="0" y="0"/>
            <a:chExt cx="3703320" cy="2468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03320" cy="246888"/>
            </a:xfrm>
            <a:custGeom>
              <a:avLst/>
              <a:gdLst/>
              <a:ahLst/>
              <a:cxnLst/>
              <a:rect l="l" t="t" r="r" b="b"/>
              <a:pathLst>
                <a:path w="3703320" h="246888">
                  <a:moveTo>
                    <a:pt x="0" y="0"/>
                  </a:moveTo>
                  <a:lnTo>
                    <a:pt x="3703320" y="0"/>
                  </a:lnTo>
                  <a:lnTo>
                    <a:pt x="370332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370332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marvel-portfolio-two.vercel.app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5785" y="514350"/>
            <a:ext cx="720090" cy="360045"/>
            <a:chOff x="0" y="0"/>
            <a:chExt cx="960120" cy="4800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60120" cy="480060"/>
            </a:xfrm>
            <a:custGeom>
              <a:avLst/>
              <a:gdLst/>
              <a:ahLst/>
              <a:cxnLst/>
              <a:rect l="l" t="t" r="r" b="b"/>
              <a:pathLst>
                <a:path w="960120" h="480060">
                  <a:moveTo>
                    <a:pt x="0" y="0"/>
                  </a:moveTo>
                  <a:lnTo>
                    <a:pt x="960120" y="0"/>
                  </a:lnTo>
                  <a:lnTo>
                    <a:pt x="960120" y="480060"/>
                  </a:lnTo>
                  <a:lnTo>
                    <a:pt x="0" y="4800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960120" cy="4895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496CFF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65785" y="1019175"/>
            <a:ext cx="915543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756" b="1">
                <a:solidFill>
                  <a:srgbClr val="17191F"/>
                </a:solidFill>
                <a:latin typeface="Inter Bold"/>
                <a:ea typeface="Inter Bold"/>
                <a:cs typeface="Inter Bold"/>
                <a:sym typeface="Inter Bold"/>
              </a:rPr>
              <a:t>Recognizing SIBI words from video — in real time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89502" y="2070830"/>
            <a:ext cx="2902192" cy="343472"/>
            <a:chOff x="0" y="0"/>
            <a:chExt cx="3869589" cy="457962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3869589" cy="457962"/>
              <a:chOff x="0" y="0"/>
              <a:chExt cx="3869589" cy="45796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869450" cy="457835"/>
              </a:xfrm>
              <a:custGeom>
                <a:avLst/>
                <a:gdLst/>
                <a:ahLst/>
                <a:cxnLst/>
                <a:rect l="l" t="t" r="r" b="b"/>
                <a:pathLst>
                  <a:path w="3869450" h="457835">
                    <a:moveTo>
                      <a:pt x="0" y="114427"/>
                    </a:moveTo>
                    <a:cubicBezTo>
                      <a:pt x="0" y="51308"/>
                      <a:pt x="56458" y="0"/>
                      <a:pt x="125912" y="0"/>
                    </a:cubicBezTo>
                    <a:lnTo>
                      <a:pt x="3743538" y="0"/>
                    </a:lnTo>
                    <a:cubicBezTo>
                      <a:pt x="3813132" y="0"/>
                      <a:pt x="3869450" y="51308"/>
                      <a:pt x="3869450" y="114427"/>
                    </a:cubicBezTo>
                    <a:lnTo>
                      <a:pt x="3869450" y="343408"/>
                    </a:lnTo>
                    <a:cubicBezTo>
                      <a:pt x="3869450" y="406654"/>
                      <a:pt x="3812992" y="457835"/>
                      <a:pt x="3743538" y="457835"/>
                    </a:cubicBezTo>
                    <a:lnTo>
                      <a:pt x="125912" y="457835"/>
                    </a:lnTo>
                    <a:cubicBezTo>
                      <a:pt x="56458" y="457962"/>
                      <a:pt x="0" y="406654"/>
                      <a:pt x="0" y="343408"/>
                    </a:cubicBezTo>
                    <a:close/>
                  </a:path>
                </a:pathLst>
              </a:custGeom>
              <a:solidFill>
                <a:srgbClr val="EEE9FF"/>
              </a:solidFill>
              <a:ln w="14288" cap="sq">
                <a:solidFill>
                  <a:srgbClr val="EEE9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57443" y="59550"/>
              <a:ext cx="3554703" cy="384048"/>
              <a:chOff x="0" y="0"/>
              <a:chExt cx="3554703" cy="38404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3554703" cy="384048"/>
              </a:xfrm>
              <a:custGeom>
                <a:avLst/>
                <a:gdLst/>
                <a:ahLst/>
                <a:cxnLst/>
                <a:rect l="l" t="t" r="r" b="b"/>
                <a:pathLst>
                  <a:path w="3554703" h="384048">
                    <a:moveTo>
                      <a:pt x="0" y="0"/>
                    </a:moveTo>
                    <a:lnTo>
                      <a:pt x="3554703" y="0"/>
                    </a:lnTo>
                    <a:lnTo>
                      <a:pt x="3554703" y="384048"/>
                    </a:lnTo>
                    <a:lnTo>
                      <a:pt x="0" y="38404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12143" r="10095" b="-112143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0"/>
                <a:ext cx="3554703" cy="38404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147"/>
                  </a:lnSpc>
                </a:pPr>
                <a:r>
                  <a:rPr lang="en-US" sz="956" b="1">
                    <a:solidFill>
                      <a:srgbClr val="17191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THESIS-LED  COLLABORATIVE PUBLICATION</a:t>
                </a: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3931727" y="2080518"/>
            <a:ext cx="1776508" cy="280731"/>
            <a:chOff x="0" y="0"/>
            <a:chExt cx="2368677" cy="37430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368592" cy="374204"/>
            </a:xfrm>
            <a:custGeom>
              <a:avLst/>
              <a:gdLst/>
              <a:ahLst/>
              <a:cxnLst/>
              <a:rect l="l" t="t" r="r" b="b"/>
              <a:pathLst>
                <a:path w="2368592" h="374204">
                  <a:moveTo>
                    <a:pt x="0" y="93525"/>
                  </a:moveTo>
                  <a:cubicBezTo>
                    <a:pt x="0" y="41936"/>
                    <a:pt x="34559" y="0"/>
                    <a:pt x="77074" y="0"/>
                  </a:cubicBezTo>
                  <a:lnTo>
                    <a:pt x="2291517" y="0"/>
                  </a:lnTo>
                  <a:cubicBezTo>
                    <a:pt x="2334118" y="0"/>
                    <a:pt x="2368592" y="41936"/>
                    <a:pt x="2368592" y="93525"/>
                  </a:cubicBezTo>
                  <a:lnTo>
                    <a:pt x="2368592" y="280679"/>
                  </a:lnTo>
                  <a:cubicBezTo>
                    <a:pt x="2368592" y="332372"/>
                    <a:pt x="2334032" y="374204"/>
                    <a:pt x="2291517" y="374204"/>
                  </a:cubicBezTo>
                  <a:lnTo>
                    <a:pt x="77074" y="374204"/>
                  </a:lnTo>
                  <a:cubicBezTo>
                    <a:pt x="34559" y="374308"/>
                    <a:pt x="0" y="332372"/>
                    <a:pt x="0" y="280679"/>
                  </a:cubicBezTo>
                  <a:close/>
                </a:path>
              </a:pathLst>
            </a:custGeom>
            <a:solidFill>
              <a:srgbClr val="E8EEFF"/>
            </a:solidFill>
            <a:ln w="14288" cap="sq">
              <a:solidFill>
                <a:srgbClr val="E8EE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018349" y="2057400"/>
            <a:ext cx="1603263" cy="333783"/>
            <a:chOff x="0" y="0"/>
            <a:chExt cx="2137684" cy="44504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37684" cy="445045"/>
            </a:xfrm>
            <a:custGeom>
              <a:avLst/>
              <a:gdLst/>
              <a:ahLst/>
              <a:cxnLst/>
              <a:rect l="l" t="t" r="r" b="b"/>
              <a:pathLst>
                <a:path w="2137684" h="445045">
                  <a:moveTo>
                    <a:pt x="0" y="0"/>
                  </a:moveTo>
                  <a:lnTo>
                    <a:pt x="2137684" y="0"/>
                  </a:lnTo>
                  <a:lnTo>
                    <a:pt x="2137684" y="445045"/>
                  </a:lnTo>
                  <a:lnTo>
                    <a:pt x="0" y="4450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773" r="-49499" b="-8306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2137684" cy="445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47"/>
                </a:lnSpc>
              </a:pPr>
              <a:r>
                <a:rPr lang="en-US" sz="956" b="1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ROLE • LEAD RESEARCHER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295644" y="2859786"/>
            <a:ext cx="3394710" cy="101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40" dirty="0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This research compares 3D CNN and CNN–LSTM architectures for word-level Indonesian Sign Language (SIBI) recognition from video, then brings the better-performing model into a real-time prototype.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289929" y="4561713"/>
            <a:ext cx="1575054" cy="957834"/>
            <a:chOff x="0" y="0"/>
            <a:chExt cx="2100072" cy="127711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00072" cy="1277112"/>
            </a:xfrm>
            <a:custGeom>
              <a:avLst/>
              <a:gdLst/>
              <a:ahLst/>
              <a:cxnLst/>
              <a:rect l="l" t="t" r="r" b="b"/>
              <a:pathLst>
                <a:path w="2100072" h="1277112">
                  <a:moveTo>
                    <a:pt x="0" y="194310"/>
                  </a:moveTo>
                  <a:cubicBezTo>
                    <a:pt x="0" y="86995"/>
                    <a:pt x="86995" y="0"/>
                    <a:pt x="194310" y="0"/>
                  </a:cubicBezTo>
                  <a:lnTo>
                    <a:pt x="1905762" y="0"/>
                  </a:lnTo>
                  <a:cubicBezTo>
                    <a:pt x="2013077" y="0"/>
                    <a:pt x="2100072" y="86995"/>
                    <a:pt x="2100072" y="194310"/>
                  </a:cubicBezTo>
                  <a:lnTo>
                    <a:pt x="2100072" y="1082802"/>
                  </a:lnTo>
                  <a:cubicBezTo>
                    <a:pt x="2100072" y="1190117"/>
                    <a:pt x="2013077" y="1277112"/>
                    <a:pt x="1905762" y="1277112"/>
                  </a:cubicBezTo>
                  <a:lnTo>
                    <a:pt x="194310" y="1277112"/>
                  </a:lnTo>
                  <a:cubicBezTo>
                    <a:pt x="86995" y="1277112"/>
                    <a:pt x="0" y="1190117"/>
                    <a:pt x="0" y="1082802"/>
                  </a:cubicBezTo>
                  <a:close/>
                </a:path>
              </a:pathLst>
            </a:custGeom>
            <a:solidFill>
              <a:srgbClr val="EEE9FF"/>
            </a:solidFill>
            <a:ln w="11430" cap="sq">
              <a:solidFill>
                <a:srgbClr val="EEE9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39662" y="4670298"/>
            <a:ext cx="1275588" cy="370332"/>
            <a:chOff x="0" y="0"/>
            <a:chExt cx="1700784" cy="4937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700784" cy="493776"/>
            </a:xfrm>
            <a:custGeom>
              <a:avLst/>
              <a:gdLst/>
              <a:ahLst/>
              <a:cxnLst/>
              <a:rect l="l" t="t" r="r" b="b"/>
              <a:pathLst>
                <a:path w="1700784" h="493776">
                  <a:moveTo>
                    <a:pt x="0" y="0"/>
                  </a:moveTo>
                  <a:lnTo>
                    <a:pt x="1700784" y="0"/>
                  </a:lnTo>
                  <a:lnTo>
                    <a:pt x="170078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115" b="-171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1700784" cy="4937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5"/>
                </a:lnSpc>
              </a:pPr>
              <a:r>
                <a:rPr lang="en-US" sz="2137" b="1">
                  <a:solidFill>
                    <a:srgbClr val="17191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&gt; .95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39662" y="5102352"/>
            <a:ext cx="1275588" cy="246888"/>
            <a:chOff x="0" y="0"/>
            <a:chExt cx="1700784" cy="32918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700784" cy="329184"/>
            </a:xfrm>
            <a:custGeom>
              <a:avLst/>
              <a:gdLst/>
              <a:ahLst/>
              <a:cxnLst/>
              <a:rect l="l" t="t" r="r" b="b"/>
              <a:pathLst>
                <a:path w="1700784" h="329184">
                  <a:moveTo>
                    <a:pt x="0" y="0"/>
                  </a:moveTo>
                  <a:lnTo>
                    <a:pt x="1700784" y="0"/>
                  </a:lnTo>
                  <a:lnTo>
                    <a:pt x="170078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672" b="-506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1700784" cy="329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39"/>
                </a:lnSpc>
              </a:pPr>
              <a:r>
                <a:rPr lang="en-US" sz="866" b="1">
                  <a:solidFill>
                    <a:srgbClr val="636A7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CNN–LSTM ACCURACY &amp; F1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100441" y="4561713"/>
            <a:ext cx="1575054" cy="957834"/>
            <a:chOff x="0" y="0"/>
            <a:chExt cx="2100072" cy="127711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100072" cy="1277112"/>
            </a:xfrm>
            <a:custGeom>
              <a:avLst/>
              <a:gdLst/>
              <a:ahLst/>
              <a:cxnLst/>
              <a:rect l="l" t="t" r="r" b="b"/>
              <a:pathLst>
                <a:path w="2100072" h="1277112">
                  <a:moveTo>
                    <a:pt x="0" y="194310"/>
                  </a:moveTo>
                  <a:cubicBezTo>
                    <a:pt x="0" y="86995"/>
                    <a:pt x="86995" y="0"/>
                    <a:pt x="194310" y="0"/>
                  </a:cubicBezTo>
                  <a:lnTo>
                    <a:pt x="1905762" y="0"/>
                  </a:lnTo>
                  <a:cubicBezTo>
                    <a:pt x="2013077" y="0"/>
                    <a:pt x="2100072" y="86995"/>
                    <a:pt x="2100072" y="194310"/>
                  </a:cubicBezTo>
                  <a:lnTo>
                    <a:pt x="2100072" y="1082802"/>
                  </a:lnTo>
                  <a:cubicBezTo>
                    <a:pt x="2100072" y="1190117"/>
                    <a:pt x="2013077" y="1277112"/>
                    <a:pt x="1905762" y="1277112"/>
                  </a:cubicBezTo>
                  <a:lnTo>
                    <a:pt x="194310" y="1277112"/>
                  </a:lnTo>
                  <a:cubicBezTo>
                    <a:pt x="86995" y="1277112"/>
                    <a:pt x="0" y="1190117"/>
                    <a:pt x="0" y="1082802"/>
                  </a:cubicBezTo>
                  <a:close/>
                </a:path>
              </a:pathLst>
            </a:custGeom>
            <a:solidFill>
              <a:srgbClr val="E8EEFF"/>
            </a:solidFill>
            <a:ln w="11430" cap="sq">
              <a:solidFill>
                <a:srgbClr val="E8EE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250174" y="4670298"/>
            <a:ext cx="1275588" cy="370332"/>
            <a:chOff x="0" y="0"/>
            <a:chExt cx="1700784" cy="49377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700784" cy="493776"/>
            </a:xfrm>
            <a:custGeom>
              <a:avLst/>
              <a:gdLst/>
              <a:ahLst/>
              <a:cxnLst/>
              <a:rect l="l" t="t" r="r" b="b"/>
              <a:pathLst>
                <a:path w="1700784" h="493776">
                  <a:moveTo>
                    <a:pt x="0" y="0"/>
                  </a:moveTo>
                  <a:lnTo>
                    <a:pt x="1700784" y="0"/>
                  </a:lnTo>
                  <a:lnTo>
                    <a:pt x="170078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115" b="-171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1700784" cy="4937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5"/>
                </a:lnSpc>
              </a:pPr>
              <a:r>
                <a:rPr lang="en-US" sz="2137" b="1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2.70 ms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250174" y="5102352"/>
            <a:ext cx="1275588" cy="246888"/>
            <a:chOff x="0" y="0"/>
            <a:chExt cx="1700784" cy="32918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700784" cy="329184"/>
            </a:xfrm>
            <a:custGeom>
              <a:avLst/>
              <a:gdLst/>
              <a:ahLst/>
              <a:cxnLst/>
              <a:rect l="l" t="t" r="r" b="b"/>
              <a:pathLst>
                <a:path w="1700784" h="329184">
                  <a:moveTo>
                    <a:pt x="0" y="0"/>
                  </a:moveTo>
                  <a:lnTo>
                    <a:pt x="1700784" y="0"/>
                  </a:lnTo>
                  <a:lnTo>
                    <a:pt x="170078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672" b="-506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1700784" cy="329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39"/>
                </a:lnSpc>
              </a:pPr>
              <a:r>
                <a:rPr lang="en-US" sz="866" b="1">
                  <a:solidFill>
                    <a:srgbClr val="636A7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CNN–LSTM INFERENCE / FRAME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95644" y="5843016"/>
            <a:ext cx="3394710" cy="226314"/>
            <a:chOff x="0" y="0"/>
            <a:chExt cx="4526280" cy="30175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526280" cy="301752"/>
            </a:xfrm>
            <a:custGeom>
              <a:avLst/>
              <a:gdLst/>
              <a:ahLst/>
              <a:cxnLst/>
              <a:rect l="l" t="t" r="r" b="b"/>
              <a:pathLst>
                <a:path w="4526280" h="301752">
                  <a:moveTo>
                    <a:pt x="0" y="0"/>
                  </a:moveTo>
                  <a:lnTo>
                    <a:pt x="4526280" y="0"/>
                  </a:lnTo>
                  <a:lnTo>
                    <a:pt x="4526280" y="301752"/>
                  </a:lnTo>
                  <a:lnTo>
                    <a:pt x="0" y="301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4526280" cy="301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26"/>
                </a:lnSpc>
              </a:pPr>
              <a:r>
                <a:rPr lang="en-US" sz="855" b="1" spc="123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IMPACT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6295644" y="6121527"/>
            <a:ext cx="3394710" cy="770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Moved beyond alphabet/static-image recognition toward words used in formal and academic contexts, with real-hardware evaluation.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6295644" y="7200900"/>
            <a:ext cx="3394710" cy="226314"/>
            <a:chOff x="0" y="0"/>
            <a:chExt cx="4526280" cy="30175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526280" cy="301752"/>
            </a:xfrm>
            <a:custGeom>
              <a:avLst/>
              <a:gdLst/>
              <a:ahLst/>
              <a:cxnLst/>
              <a:rect l="l" t="t" r="r" b="b"/>
              <a:pathLst>
                <a:path w="4526280" h="301752">
                  <a:moveTo>
                    <a:pt x="0" y="0"/>
                  </a:moveTo>
                  <a:lnTo>
                    <a:pt x="4526280" y="0"/>
                  </a:lnTo>
                  <a:lnTo>
                    <a:pt x="4526280" y="301752"/>
                  </a:lnTo>
                  <a:lnTo>
                    <a:pt x="0" y="301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4526280" cy="301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26"/>
                </a:lnSpc>
              </a:pPr>
              <a:r>
                <a:rPr lang="en-US" sz="855" b="1" spc="123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WHAT I LEARNED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6295644" y="7479411"/>
            <a:ext cx="3394710" cy="770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85"/>
              </a:lnSpc>
            </a:pPr>
            <a:r>
              <a:rPr lang="en-US" sz="1237" dirty="0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The “best” architecture depends on the experience you are trying to create. Accuracy, latency, hardware, and accessibility must be designed together.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6295644" y="8250174"/>
            <a:ext cx="3343275" cy="288036"/>
            <a:chOff x="0" y="0"/>
            <a:chExt cx="4457700" cy="38404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457700" cy="384048"/>
            </a:xfrm>
            <a:custGeom>
              <a:avLst/>
              <a:gdLst/>
              <a:ahLst/>
              <a:cxnLst/>
              <a:rect l="l" t="t" r="r" b="b"/>
              <a:pathLst>
                <a:path w="4457700" h="384048">
                  <a:moveTo>
                    <a:pt x="0" y="0"/>
                  </a:moveTo>
                  <a:lnTo>
                    <a:pt x="4457700" y="0"/>
                  </a:lnTo>
                  <a:lnTo>
                    <a:pt x="4457700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6165" b="-1761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4457700" cy="384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33"/>
                </a:lnSpc>
              </a:pPr>
              <a:r>
                <a:rPr lang="en-US" sz="944" b="1" u="sng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  <a:hlinkClick r:id="rId3" tooltip="https://github.com/marvelm69/Thesis"/>
                </a:rPr>
                <a:t>↗  GitHub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9709785" y="405765"/>
            <a:ext cx="717118" cy="24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C4C8D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FF1051C5-29C6-116F-E9F7-0CE60758E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45" y="2889562"/>
            <a:ext cx="5230543" cy="2953453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2EDCD8-B4C5-03D5-3211-DE056757D4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81" y="5831247"/>
            <a:ext cx="5230543" cy="2809833"/>
          </a:xfrm>
          <a:prstGeom prst="rect">
            <a:avLst/>
          </a:prstGeom>
        </p:spPr>
      </p:pic>
      <p:sp>
        <p:nvSpPr>
          <p:cNvPr id="63" name="TextBox 63">
            <a:extLst>
              <a:ext uri="{FF2B5EF4-FFF2-40B4-BE49-F238E27FC236}">
                <a16:creationId xmlns:a16="http://schemas.microsoft.com/office/drawing/2014/main" id="{8DF3799B-F05D-59C8-AA13-02B26AEDC153}"/>
              </a:ext>
            </a:extLst>
          </p:cNvPr>
          <p:cNvSpPr txBox="1"/>
          <p:nvPr/>
        </p:nvSpPr>
        <p:spPr>
          <a:xfrm>
            <a:off x="6295643" y="2633472"/>
            <a:ext cx="3343275" cy="22631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1026"/>
              </a:lnSpc>
            </a:pPr>
            <a:r>
              <a:rPr lang="en-US" sz="855" b="1" spc="123" dirty="0">
                <a:solidFill>
                  <a:srgbClr val="496CFF"/>
                </a:solidFill>
                <a:latin typeface="Inter Bold"/>
                <a:ea typeface="Inter Bold"/>
                <a:cs typeface="Inter Bold"/>
                <a:sym typeface="Inter Bold"/>
              </a:rPr>
              <a:t>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5785" y="9824085"/>
            <a:ext cx="2263140" cy="185166"/>
            <a:chOff x="0" y="0"/>
            <a:chExt cx="3017520" cy="246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7520" cy="246888"/>
            </a:xfrm>
            <a:custGeom>
              <a:avLst/>
              <a:gdLst/>
              <a:ahLst/>
              <a:cxnLst/>
              <a:rect l="l" t="t" r="r" b="b"/>
              <a:pathLst>
                <a:path w="3017520" h="246888">
                  <a:moveTo>
                    <a:pt x="0" y="0"/>
                  </a:moveTo>
                  <a:lnTo>
                    <a:pt x="3017520" y="0"/>
                  </a:lnTo>
                  <a:lnTo>
                    <a:pt x="301752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01752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@marvelm69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51885" y="9824085"/>
            <a:ext cx="2983230" cy="185166"/>
            <a:chOff x="0" y="0"/>
            <a:chExt cx="3977640" cy="2468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77640" cy="246888"/>
            </a:xfrm>
            <a:custGeom>
              <a:avLst/>
              <a:gdLst/>
              <a:ahLst/>
              <a:cxnLst/>
              <a:rect l="l" t="t" r="r" b="b"/>
              <a:pathLst>
                <a:path w="3977640" h="246888">
                  <a:moveTo>
                    <a:pt x="0" y="0"/>
                  </a:moveTo>
                  <a:lnTo>
                    <a:pt x="3977640" y="0"/>
                  </a:lnTo>
                  <a:lnTo>
                    <a:pt x="397764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3925" b="-2639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397764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marvel.m818@gmail.com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43725" y="9824085"/>
            <a:ext cx="2777490" cy="185166"/>
            <a:chOff x="0" y="0"/>
            <a:chExt cx="3703320" cy="2468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03320" cy="246888"/>
            </a:xfrm>
            <a:custGeom>
              <a:avLst/>
              <a:gdLst/>
              <a:ahLst/>
              <a:cxnLst/>
              <a:rect l="l" t="t" r="r" b="b"/>
              <a:pathLst>
                <a:path w="3703320" h="246888">
                  <a:moveTo>
                    <a:pt x="0" y="0"/>
                  </a:moveTo>
                  <a:lnTo>
                    <a:pt x="3703320" y="0"/>
                  </a:lnTo>
                  <a:lnTo>
                    <a:pt x="370332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370332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marvel-portfolio-two.vercel.app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5785" y="514350"/>
            <a:ext cx="720090" cy="360045"/>
            <a:chOff x="0" y="0"/>
            <a:chExt cx="960120" cy="4800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60120" cy="480060"/>
            </a:xfrm>
            <a:custGeom>
              <a:avLst/>
              <a:gdLst/>
              <a:ahLst/>
              <a:cxnLst/>
              <a:rect l="l" t="t" r="r" b="b"/>
              <a:pathLst>
                <a:path w="960120" h="480060">
                  <a:moveTo>
                    <a:pt x="0" y="0"/>
                  </a:moveTo>
                  <a:lnTo>
                    <a:pt x="960120" y="0"/>
                  </a:lnTo>
                  <a:lnTo>
                    <a:pt x="960120" y="480060"/>
                  </a:lnTo>
                  <a:lnTo>
                    <a:pt x="0" y="4800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960120" cy="4895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496CFF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7458075" y="555498"/>
            <a:ext cx="2211705" cy="257175"/>
          </a:xfrm>
          <a:custGeom>
            <a:avLst/>
            <a:gdLst/>
            <a:ahLst/>
            <a:cxnLst/>
            <a:rect l="l" t="t" r="r" b="b"/>
            <a:pathLst>
              <a:path w="2948940" h="342900">
                <a:moveTo>
                  <a:pt x="0" y="0"/>
                </a:moveTo>
                <a:lnTo>
                  <a:pt x="2948940" y="0"/>
                </a:lnTo>
                <a:lnTo>
                  <a:pt x="2948940" y="342900"/>
                </a:lnTo>
                <a:lnTo>
                  <a:pt x="0" y="342900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117571" b="-1175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565785" y="1028700"/>
            <a:ext cx="915543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1">
                <a:solidFill>
                  <a:srgbClr val="17191F"/>
                </a:solidFill>
                <a:latin typeface="Inter Bold"/>
                <a:ea typeface="Inter Bold"/>
                <a:cs typeface="Inter Bold"/>
                <a:sym typeface="Inter Bold"/>
              </a:rPr>
              <a:t>TRISTEP — Explore. Find. Grow.</a:t>
            </a:r>
          </a:p>
        </p:txBody>
      </p:sp>
      <p:grpSp>
        <p:nvGrpSpPr>
          <p:cNvPr id="915" name="Group 914">
            <a:extLst>
              <a:ext uri="{FF2B5EF4-FFF2-40B4-BE49-F238E27FC236}">
                <a16:creationId xmlns:a16="http://schemas.microsoft.com/office/drawing/2014/main" id="{CFB6EDD3-6407-2170-8875-FC1FC9079E39}"/>
              </a:ext>
            </a:extLst>
          </p:cNvPr>
          <p:cNvGrpSpPr/>
          <p:nvPr/>
        </p:nvGrpSpPr>
        <p:grpSpPr>
          <a:xfrm>
            <a:off x="789908" y="2070830"/>
            <a:ext cx="1201198" cy="343472"/>
            <a:chOff x="589502" y="2070830"/>
            <a:chExt cx="1201198" cy="343472"/>
          </a:xfrm>
        </p:grpSpPr>
        <p:grpSp>
          <p:nvGrpSpPr>
            <p:cNvPr id="18" name="Group 18"/>
            <p:cNvGrpSpPr/>
            <p:nvPr/>
          </p:nvGrpSpPr>
          <p:grpSpPr>
            <a:xfrm>
              <a:off x="589502" y="2070830"/>
              <a:ext cx="1201198" cy="343472"/>
              <a:chOff x="0" y="0"/>
              <a:chExt cx="2693670" cy="45796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693670" cy="457835"/>
              </a:xfrm>
              <a:custGeom>
                <a:avLst/>
                <a:gdLst/>
                <a:ahLst/>
                <a:cxnLst/>
                <a:rect l="l" t="t" r="r" b="b"/>
                <a:pathLst>
                  <a:path w="2693670" h="457835">
                    <a:moveTo>
                      <a:pt x="0" y="114427"/>
                    </a:moveTo>
                    <a:cubicBezTo>
                      <a:pt x="0" y="51308"/>
                      <a:pt x="51308" y="0"/>
                      <a:pt x="114427" y="0"/>
                    </a:cubicBezTo>
                    <a:lnTo>
                      <a:pt x="2579116" y="0"/>
                    </a:lnTo>
                    <a:cubicBezTo>
                      <a:pt x="2642362" y="0"/>
                      <a:pt x="2693670" y="51308"/>
                      <a:pt x="2693670" y="114427"/>
                    </a:cubicBezTo>
                    <a:lnTo>
                      <a:pt x="2693670" y="343408"/>
                    </a:lnTo>
                    <a:cubicBezTo>
                      <a:pt x="2693670" y="406654"/>
                      <a:pt x="2642362" y="457835"/>
                      <a:pt x="2579116" y="457835"/>
                    </a:cubicBezTo>
                    <a:lnTo>
                      <a:pt x="114427" y="457835"/>
                    </a:lnTo>
                    <a:cubicBezTo>
                      <a:pt x="51308" y="457962"/>
                      <a:pt x="0" y="406654"/>
                      <a:pt x="0" y="343408"/>
                    </a:cubicBezTo>
                    <a:close/>
                  </a:path>
                </a:pathLst>
              </a:custGeom>
              <a:solidFill>
                <a:srgbClr val="E2F7EC"/>
              </a:solidFill>
              <a:ln w="14288" cap="sq">
                <a:solidFill>
                  <a:srgbClr val="E2F7E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57677" y="2088261"/>
              <a:ext cx="1064848" cy="317024"/>
              <a:chOff x="-114168" y="0"/>
              <a:chExt cx="2372868" cy="42269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847596" cy="384048"/>
              </a:xfrm>
              <a:custGeom>
                <a:avLst/>
                <a:gdLst/>
                <a:ahLst/>
                <a:cxnLst/>
                <a:rect l="l" t="t" r="r" b="b"/>
                <a:pathLst>
                  <a:path w="2372868" h="384048">
                    <a:moveTo>
                      <a:pt x="0" y="0"/>
                    </a:moveTo>
                    <a:lnTo>
                      <a:pt x="2372868" y="0"/>
                    </a:lnTo>
                    <a:lnTo>
                      <a:pt x="2372868" y="384048"/>
                    </a:lnTo>
                    <a:lnTo>
                      <a:pt x="0" y="38404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70389" b="-7038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-114168" y="38651"/>
                <a:ext cx="2372868" cy="38404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147"/>
                  </a:lnSpc>
                </a:pPr>
                <a:r>
                  <a:rPr lang="en-US" sz="956" b="1" dirty="0">
                    <a:solidFill>
                      <a:srgbClr val="17191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GROUP PROJECT</a:t>
                </a:r>
              </a:p>
            </p:txBody>
          </p:sp>
        </p:grpSp>
      </p:grpSp>
      <p:grpSp>
        <p:nvGrpSpPr>
          <p:cNvPr id="916" name="Group 915">
            <a:extLst>
              <a:ext uri="{FF2B5EF4-FFF2-40B4-BE49-F238E27FC236}">
                <a16:creationId xmlns:a16="http://schemas.microsoft.com/office/drawing/2014/main" id="{A7A4ACE1-F9EE-4EEB-01A9-F7E533F1BDF6}"/>
              </a:ext>
            </a:extLst>
          </p:cNvPr>
          <p:cNvGrpSpPr/>
          <p:nvPr/>
        </p:nvGrpSpPr>
        <p:grpSpPr>
          <a:xfrm>
            <a:off x="2138455" y="2060795"/>
            <a:ext cx="2342292" cy="363445"/>
            <a:chOff x="2749773" y="2070830"/>
            <a:chExt cx="2342292" cy="363445"/>
          </a:xfrm>
        </p:grpSpPr>
        <p:grpSp>
          <p:nvGrpSpPr>
            <p:cNvPr id="23" name="Group 23"/>
            <p:cNvGrpSpPr/>
            <p:nvPr/>
          </p:nvGrpSpPr>
          <p:grpSpPr>
            <a:xfrm>
              <a:off x="2749773" y="2070830"/>
              <a:ext cx="2020252" cy="343472"/>
              <a:chOff x="0" y="0"/>
              <a:chExt cx="3283458" cy="45796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3283331" cy="457835"/>
              </a:xfrm>
              <a:custGeom>
                <a:avLst/>
                <a:gdLst/>
                <a:ahLst/>
                <a:cxnLst/>
                <a:rect l="l" t="t" r="r" b="b"/>
                <a:pathLst>
                  <a:path w="3283331" h="457835">
                    <a:moveTo>
                      <a:pt x="0" y="114427"/>
                    </a:moveTo>
                    <a:cubicBezTo>
                      <a:pt x="0" y="51308"/>
                      <a:pt x="51308" y="0"/>
                      <a:pt x="114427" y="0"/>
                    </a:cubicBezTo>
                    <a:lnTo>
                      <a:pt x="3168904" y="0"/>
                    </a:lnTo>
                    <a:cubicBezTo>
                      <a:pt x="3232150" y="0"/>
                      <a:pt x="3283331" y="51308"/>
                      <a:pt x="3283331" y="114427"/>
                    </a:cubicBezTo>
                    <a:lnTo>
                      <a:pt x="3283331" y="343408"/>
                    </a:lnTo>
                    <a:cubicBezTo>
                      <a:pt x="3283331" y="406654"/>
                      <a:pt x="3232023" y="457835"/>
                      <a:pt x="3168904" y="457835"/>
                    </a:cubicBezTo>
                    <a:lnTo>
                      <a:pt x="114427" y="457835"/>
                    </a:lnTo>
                    <a:cubicBezTo>
                      <a:pt x="51308" y="457962"/>
                      <a:pt x="0" y="406654"/>
                      <a:pt x="0" y="343408"/>
                    </a:cubicBezTo>
                    <a:close/>
                  </a:path>
                </a:pathLst>
              </a:custGeom>
              <a:solidFill>
                <a:srgbClr val="E8EEFF"/>
              </a:solidFill>
              <a:ln w="14288" cap="sq">
                <a:solidFill>
                  <a:srgbClr val="E8EE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870073" y="2088260"/>
              <a:ext cx="2221992" cy="346015"/>
              <a:chOff x="0" y="0"/>
              <a:chExt cx="2962656" cy="38404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2962656" cy="384048"/>
              </a:xfrm>
              <a:custGeom>
                <a:avLst/>
                <a:gdLst/>
                <a:ahLst/>
                <a:cxnLst/>
                <a:rect l="l" t="t" r="r" b="b"/>
                <a:pathLst>
                  <a:path w="2962656" h="384048">
                    <a:moveTo>
                      <a:pt x="0" y="0"/>
                    </a:moveTo>
                    <a:lnTo>
                      <a:pt x="2962656" y="0"/>
                    </a:lnTo>
                    <a:lnTo>
                      <a:pt x="2962656" y="384048"/>
                    </a:lnTo>
                    <a:lnTo>
                      <a:pt x="0" y="38404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00313" b="-100313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0"/>
                <a:ext cx="2962656" cy="38404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147"/>
                  </a:lnSpc>
                </a:pPr>
                <a:r>
                  <a:rPr lang="en-US" sz="956" b="1" dirty="0">
                    <a:solidFill>
                      <a:srgbClr val="496C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ROLE • PRODUCT DEVELOPER</a:t>
                </a:r>
              </a:p>
            </p:txBody>
          </p:sp>
        </p:grpSp>
      </p:grpSp>
      <p:grpSp>
        <p:nvGrpSpPr>
          <p:cNvPr id="904" name="Group 903">
            <a:extLst>
              <a:ext uri="{FF2B5EF4-FFF2-40B4-BE49-F238E27FC236}">
                <a16:creationId xmlns:a16="http://schemas.microsoft.com/office/drawing/2014/main" id="{31AB8457-D48A-A2E1-E66C-46E89E331361}"/>
              </a:ext>
            </a:extLst>
          </p:cNvPr>
          <p:cNvGrpSpPr/>
          <p:nvPr/>
        </p:nvGrpSpPr>
        <p:grpSpPr>
          <a:xfrm>
            <a:off x="5826201" y="7382891"/>
            <a:ext cx="4588002" cy="1213866"/>
            <a:chOff x="864108" y="6707124"/>
            <a:chExt cx="4588002" cy="1213866"/>
          </a:xfrm>
        </p:grpSpPr>
        <p:grpSp>
          <p:nvGrpSpPr>
            <p:cNvPr id="30" name="Group 30"/>
            <p:cNvGrpSpPr/>
            <p:nvPr/>
          </p:nvGrpSpPr>
          <p:grpSpPr>
            <a:xfrm>
              <a:off x="864108" y="6707124"/>
              <a:ext cx="1285875" cy="226314"/>
              <a:chOff x="0" y="0"/>
              <a:chExt cx="1714500" cy="30175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714500" cy="301752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301752">
                    <a:moveTo>
                      <a:pt x="0" y="0"/>
                    </a:moveTo>
                    <a:lnTo>
                      <a:pt x="1714500" y="0"/>
                    </a:lnTo>
                    <a:lnTo>
                      <a:pt x="1714500" y="301752"/>
                    </a:lnTo>
                    <a:lnTo>
                      <a:pt x="0" y="301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710" b="-6071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0"/>
                <a:ext cx="1714500" cy="3017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80"/>
                  </a:lnSpc>
                </a:pPr>
                <a:r>
                  <a:rPr lang="en-US" sz="900" b="1" dirty="0">
                    <a:solidFill>
                      <a:srgbClr val="636A78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Model evaluation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64108" y="7221474"/>
              <a:ext cx="874395" cy="246888"/>
              <a:chOff x="0" y="0"/>
              <a:chExt cx="1165860" cy="32918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65860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1165860" h="329184">
                    <a:moveTo>
                      <a:pt x="0" y="0"/>
                    </a:moveTo>
                    <a:lnTo>
                      <a:pt x="1165860" y="0"/>
                    </a:lnTo>
                    <a:lnTo>
                      <a:pt x="1165860" y="329184"/>
                    </a:lnTo>
                    <a:lnTo>
                      <a:pt x="0" y="32918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9009" b="-1900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9525"/>
                <a:ext cx="1165860" cy="33870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15"/>
                  </a:lnSpc>
                </a:pPr>
                <a:r>
                  <a:rPr lang="en-US" sz="1012" b="1">
                    <a:solidFill>
                      <a:srgbClr val="17191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TF–IDF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700498" y="7245191"/>
              <a:ext cx="2832926" cy="189166"/>
              <a:chOff x="0" y="0"/>
              <a:chExt cx="3777234" cy="252222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3777234" cy="252222"/>
              </a:xfrm>
              <a:custGeom>
                <a:avLst/>
                <a:gdLst/>
                <a:ahLst/>
                <a:cxnLst/>
                <a:rect l="l" t="t" r="r" b="b"/>
                <a:pathLst>
                  <a:path w="3777234" h="252222">
                    <a:moveTo>
                      <a:pt x="0" y="103886"/>
                    </a:moveTo>
                    <a:cubicBezTo>
                      <a:pt x="0" y="46482"/>
                      <a:pt x="46482" y="0"/>
                      <a:pt x="103886" y="0"/>
                    </a:cubicBezTo>
                    <a:lnTo>
                      <a:pt x="3673348" y="0"/>
                    </a:lnTo>
                    <a:cubicBezTo>
                      <a:pt x="3730752" y="0"/>
                      <a:pt x="3777234" y="46482"/>
                      <a:pt x="3777234" y="103886"/>
                    </a:cubicBezTo>
                    <a:lnTo>
                      <a:pt x="3777234" y="148336"/>
                    </a:lnTo>
                    <a:cubicBezTo>
                      <a:pt x="3777234" y="205740"/>
                      <a:pt x="3730752" y="252222"/>
                      <a:pt x="3673348" y="252222"/>
                    </a:cubicBezTo>
                    <a:lnTo>
                      <a:pt x="103886" y="252222"/>
                    </a:lnTo>
                    <a:cubicBezTo>
                      <a:pt x="46482" y="252222"/>
                      <a:pt x="0" y="205740"/>
                      <a:pt x="0" y="148336"/>
                    </a:cubicBezTo>
                    <a:close/>
                  </a:path>
                </a:pathLst>
              </a:custGeom>
              <a:solidFill>
                <a:srgbClr val="DDE3F2"/>
              </a:solidFill>
              <a:ln w="14288" cap="sq">
                <a:solidFill>
                  <a:srgbClr val="DDE3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1700498" y="7245191"/>
              <a:ext cx="2380298" cy="189166"/>
              <a:chOff x="0" y="0"/>
              <a:chExt cx="3173730" cy="252222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3173730" cy="252222"/>
              </a:xfrm>
              <a:custGeom>
                <a:avLst/>
                <a:gdLst/>
                <a:ahLst/>
                <a:cxnLst/>
                <a:rect l="l" t="t" r="r" b="b"/>
                <a:pathLst>
                  <a:path w="3173730" h="252222">
                    <a:moveTo>
                      <a:pt x="0" y="103886"/>
                    </a:moveTo>
                    <a:cubicBezTo>
                      <a:pt x="0" y="46482"/>
                      <a:pt x="46482" y="0"/>
                      <a:pt x="103886" y="0"/>
                    </a:cubicBezTo>
                    <a:lnTo>
                      <a:pt x="3069844" y="0"/>
                    </a:lnTo>
                    <a:cubicBezTo>
                      <a:pt x="3127248" y="0"/>
                      <a:pt x="3173730" y="46482"/>
                      <a:pt x="3173730" y="103886"/>
                    </a:cubicBezTo>
                    <a:lnTo>
                      <a:pt x="3173730" y="148336"/>
                    </a:lnTo>
                    <a:cubicBezTo>
                      <a:pt x="3173730" y="205740"/>
                      <a:pt x="3127248" y="252222"/>
                      <a:pt x="3069844" y="252222"/>
                    </a:cubicBezTo>
                    <a:lnTo>
                      <a:pt x="103886" y="252222"/>
                    </a:lnTo>
                    <a:cubicBezTo>
                      <a:pt x="46482" y="252222"/>
                      <a:pt x="0" y="205740"/>
                      <a:pt x="0" y="148336"/>
                    </a:cubicBezTo>
                    <a:close/>
                  </a:path>
                </a:pathLst>
              </a:custGeom>
              <a:solidFill>
                <a:srgbClr val="496CFF"/>
              </a:solidFill>
              <a:ln w="14288" cap="sq">
                <a:solidFill>
                  <a:srgbClr val="496C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864108" y="7684389"/>
              <a:ext cx="4588002" cy="236601"/>
              <a:chOff x="0" y="0"/>
              <a:chExt cx="6117336" cy="31546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117336" cy="315468"/>
              </a:xfrm>
              <a:custGeom>
                <a:avLst/>
                <a:gdLst/>
                <a:ahLst/>
                <a:cxnLst/>
                <a:rect l="l" t="t" r="r" b="b"/>
                <a:pathLst>
                  <a:path w="6117336" h="315468">
                    <a:moveTo>
                      <a:pt x="0" y="0"/>
                    </a:moveTo>
                    <a:lnTo>
                      <a:pt x="6117336" y="0"/>
                    </a:lnTo>
                    <a:lnTo>
                      <a:pt x="6117336" y="315468"/>
                    </a:lnTo>
                    <a:lnTo>
                      <a:pt x="0" y="31546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27840" b="-32784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0"/>
                <a:ext cx="6117336" cy="31546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120"/>
                  </a:lnSpc>
                </a:pPr>
                <a:r>
                  <a:rPr lang="en-US" sz="933" b="1">
                    <a:solidFill>
                      <a:srgbClr val="636A78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Prec@10  0.846 jobs / 0.836 courses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5826201" y="3182413"/>
            <a:ext cx="3353562" cy="131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An AI-powered career-development platform that helps users understand the market, discover relevant job opportunities, and identify courses that close skill gaps.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5826201" y="4341137"/>
            <a:ext cx="3353562" cy="248945"/>
            <a:chOff x="0" y="0"/>
            <a:chExt cx="4471416" cy="30175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471416" cy="301752"/>
            </a:xfrm>
            <a:custGeom>
              <a:avLst/>
              <a:gdLst/>
              <a:ahLst/>
              <a:cxnLst/>
              <a:rect l="l" t="t" r="r" b="b"/>
              <a:pathLst>
                <a:path w="4471416" h="301752">
                  <a:moveTo>
                    <a:pt x="0" y="0"/>
                  </a:moveTo>
                  <a:lnTo>
                    <a:pt x="4471416" y="0"/>
                  </a:lnTo>
                  <a:lnTo>
                    <a:pt x="4471416" y="301752"/>
                  </a:lnTo>
                  <a:lnTo>
                    <a:pt x="0" y="301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8732" b="-23873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4471416" cy="301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26"/>
                </a:lnSpc>
              </a:pPr>
              <a:r>
                <a:rPr lang="en-US" sz="855" b="1" spc="123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IMPACT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5826201" y="4592425"/>
            <a:ext cx="3353562" cy="84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Built an end-to-end recommendation experience that connected data, ML evaluation, product flow, and a working Streamlit deployment.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5826201" y="5719595"/>
            <a:ext cx="3353562" cy="248945"/>
            <a:chOff x="0" y="0"/>
            <a:chExt cx="4471416" cy="30175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471416" cy="301752"/>
            </a:xfrm>
            <a:custGeom>
              <a:avLst/>
              <a:gdLst/>
              <a:ahLst/>
              <a:cxnLst/>
              <a:rect l="l" t="t" r="r" b="b"/>
              <a:pathLst>
                <a:path w="4471416" h="301752">
                  <a:moveTo>
                    <a:pt x="0" y="0"/>
                  </a:moveTo>
                  <a:lnTo>
                    <a:pt x="4471416" y="0"/>
                  </a:lnTo>
                  <a:lnTo>
                    <a:pt x="4471416" y="301752"/>
                  </a:lnTo>
                  <a:lnTo>
                    <a:pt x="0" y="301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8732" b="-23873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4471416" cy="301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26"/>
                </a:lnSpc>
              </a:pPr>
              <a:r>
                <a:rPr lang="en-US" sz="855" b="1" spc="123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WHAT I LEARNED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826201" y="5970883"/>
            <a:ext cx="3353562" cy="84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dirty="0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A simpler model can be the better product decision. TF–IDF beat more complex approaches here while offering strong accuracy, speed, and easier iteration.</a:t>
            </a:r>
          </a:p>
        </p:txBody>
      </p:sp>
      <p:sp>
        <p:nvSpPr>
          <p:cNvPr id="69" name="Freeform 69"/>
          <p:cNvSpPr/>
          <p:nvPr/>
        </p:nvSpPr>
        <p:spPr>
          <a:xfrm>
            <a:off x="5864301" y="8799449"/>
            <a:ext cx="1491615" cy="288036"/>
          </a:xfrm>
          <a:custGeom>
            <a:avLst/>
            <a:gdLst/>
            <a:ahLst/>
            <a:cxnLst/>
            <a:rect l="l" t="t" r="r" b="b"/>
            <a:pathLst>
              <a:path w="1988820" h="384048">
                <a:moveTo>
                  <a:pt x="0" y="0"/>
                </a:moveTo>
                <a:lnTo>
                  <a:pt x="1988820" y="0"/>
                </a:lnTo>
                <a:lnTo>
                  <a:pt x="1988820" y="384048"/>
                </a:lnTo>
                <a:lnTo>
                  <a:pt x="0" y="384048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50904" b="-5090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1" name="Group 71"/>
          <p:cNvGrpSpPr/>
          <p:nvPr/>
        </p:nvGrpSpPr>
        <p:grpSpPr>
          <a:xfrm>
            <a:off x="5826201" y="6801787"/>
            <a:ext cx="3137535" cy="2285698"/>
            <a:chOff x="-2331720" y="-2663549"/>
            <a:chExt cx="4183380" cy="3047597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851660" cy="384048"/>
            </a:xfrm>
            <a:custGeom>
              <a:avLst/>
              <a:gdLst/>
              <a:ahLst/>
              <a:cxnLst/>
              <a:rect l="l" t="t" r="r" b="b"/>
              <a:pathLst>
                <a:path w="1851660" h="384048">
                  <a:moveTo>
                    <a:pt x="0" y="0"/>
                  </a:moveTo>
                  <a:lnTo>
                    <a:pt x="1851660" y="0"/>
                  </a:lnTo>
                  <a:lnTo>
                    <a:pt x="1851660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945" b="-439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-2331720" y="-2663549"/>
              <a:ext cx="1851660" cy="384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33"/>
                </a:lnSpc>
              </a:pPr>
              <a:r>
                <a:rPr lang="en-US" sz="944" b="1" u="sng" dirty="0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  <a:hlinkClick r:id="rId3" tooltip="https://github.com/marvelm69/TRISTEP"/>
                </a:rPr>
                <a:t>↗  GitHub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9709785" y="405765"/>
            <a:ext cx="717118" cy="24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C4C8D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</p:txBody>
      </p:sp>
      <p:sp>
        <p:nvSpPr>
          <p:cNvPr id="897" name="TextBox 63">
            <a:extLst>
              <a:ext uri="{FF2B5EF4-FFF2-40B4-BE49-F238E27FC236}">
                <a16:creationId xmlns:a16="http://schemas.microsoft.com/office/drawing/2014/main" id="{2A98BFE9-D10B-9240-43FB-868D5DFFFE54}"/>
              </a:ext>
            </a:extLst>
          </p:cNvPr>
          <p:cNvSpPr txBox="1"/>
          <p:nvPr/>
        </p:nvSpPr>
        <p:spPr>
          <a:xfrm>
            <a:off x="5826201" y="2928263"/>
            <a:ext cx="3343275" cy="22631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1026"/>
              </a:lnSpc>
            </a:pPr>
            <a:r>
              <a:rPr lang="en-US" sz="855" b="1" spc="123" dirty="0">
                <a:solidFill>
                  <a:srgbClr val="496CFF"/>
                </a:solidFill>
                <a:latin typeface="Inter Bold"/>
                <a:ea typeface="Inter Bold"/>
                <a:cs typeface="Inter Bold"/>
                <a:sym typeface="Inter Bold"/>
              </a:rPr>
              <a:t>DESCRIPTION</a:t>
            </a:r>
          </a:p>
        </p:txBody>
      </p:sp>
      <p:pic>
        <p:nvPicPr>
          <p:cNvPr id="910" name="Google Shape;531;p49">
            <a:extLst>
              <a:ext uri="{FF2B5EF4-FFF2-40B4-BE49-F238E27FC236}">
                <a16:creationId xmlns:a16="http://schemas.microsoft.com/office/drawing/2014/main" id="{5AC6ACDC-3D27-F48D-E844-C4A1518616F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908" y="2847755"/>
            <a:ext cx="3757917" cy="1901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538;p50">
            <a:extLst>
              <a:ext uri="{FF2B5EF4-FFF2-40B4-BE49-F238E27FC236}">
                <a16:creationId xmlns:a16="http://schemas.microsoft.com/office/drawing/2014/main" id="{D9EE6528-9BD4-4BD2-8FED-369EC8269C1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5845" y="4936079"/>
            <a:ext cx="3757917" cy="1919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545;p51">
            <a:extLst>
              <a:ext uri="{FF2B5EF4-FFF2-40B4-BE49-F238E27FC236}">
                <a16:creationId xmlns:a16="http://schemas.microsoft.com/office/drawing/2014/main" id="{21084824-D380-C1F4-BA8F-C241F736614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0765" y="7108752"/>
            <a:ext cx="3757917" cy="1924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5785" y="9824085"/>
            <a:ext cx="2263140" cy="185166"/>
            <a:chOff x="0" y="0"/>
            <a:chExt cx="3017520" cy="246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7520" cy="246888"/>
            </a:xfrm>
            <a:custGeom>
              <a:avLst/>
              <a:gdLst/>
              <a:ahLst/>
              <a:cxnLst/>
              <a:rect l="l" t="t" r="r" b="b"/>
              <a:pathLst>
                <a:path w="3017520" h="246888">
                  <a:moveTo>
                    <a:pt x="0" y="0"/>
                  </a:moveTo>
                  <a:lnTo>
                    <a:pt x="3017520" y="0"/>
                  </a:lnTo>
                  <a:lnTo>
                    <a:pt x="301752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01752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@marvelm69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51885" y="9824085"/>
            <a:ext cx="2983230" cy="185166"/>
            <a:chOff x="0" y="0"/>
            <a:chExt cx="3977640" cy="2468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77640" cy="246888"/>
            </a:xfrm>
            <a:custGeom>
              <a:avLst/>
              <a:gdLst/>
              <a:ahLst/>
              <a:cxnLst/>
              <a:rect l="l" t="t" r="r" b="b"/>
              <a:pathLst>
                <a:path w="3977640" h="246888">
                  <a:moveTo>
                    <a:pt x="0" y="0"/>
                  </a:moveTo>
                  <a:lnTo>
                    <a:pt x="3977640" y="0"/>
                  </a:lnTo>
                  <a:lnTo>
                    <a:pt x="397764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3925" b="-2639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397764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marvel.m818@gmail.com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43725" y="9824085"/>
            <a:ext cx="2777490" cy="185166"/>
            <a:chOff x="0" y="0"/>
            <a:chExt cx="3703320" cy="2468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03320" cy="246888"/>
            </a:xfrm>
            <a:custGeom>
              <a:avLst/>
              <a:gdLst/>
              <a:ahLst/>
              <a:cxnLst/>
              <a:rect l="l" t="t" r="r" b="b"/>
              <a:pathLst>
                <a:path w="3703320" h="246888">
                  <a:moveTo>
                    <a:pt x="0" y="0"/>
                  </a:moveTo>
                  <a:lnTo>
                    <a:pt x="3703320" y="0"/>
                  </a:lnTo>
                  <a:lnTo>
                    <a:pt x="370332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370332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marvel-portfolio-two.vercel.app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5785" y="514350"/>
            <a:ext cx="720090" cy="360045"/>
            <a:chOff x="0" y="0"/>
            <a:chExt cx="960120" cy="4800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60120" cy="480060"/>
            </a:xfrm>
            <a:custGeom>
              <a:avLst/>
              <a:gdLst/>
              <a:ahLst/>
              <a:cxnLst/>
              <a:rect l="l" t="t" r="r" b="b"/>
              <a:pathLst>
                <a:path w="960120" h="480060">
                  <a:moveTo>
                    <a:pt x="0" y="0"/>
                  </a:moveTo>
                  <a:lnTo>
                    <a:pt x="960120" y="0"/>
                  </a:lnTo>
                  <a:lnTo>
                    <a:pt x="960120" y="480060"/>
                  </a:lnTo>
                  <a:lnTo>
                    <a:pt x="0" y="4800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960120" cy="4895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496CFF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7458075" y="555498"/>
            <a:ext cx="2211705" cy="257175"/>
          </a:xfrm>
          <a:custGeom>
            <a:avLst/>
            <a:gdLst/>
            <a:ahLst/>
            <a:cxnLst/>
            <a:rect l="l" t="t" r="r" b="b"/>
            <a:pathLst>
              <a:path w="2948940" h="342900">
                <a:moveTo>
                  <a:pt x="0" y="0"/>
                </a:moveTo>
                <a:lnTo>
                  <a:pt x="2948940" y="0"/>
                </a:lnTo>
                <a:lnTo>
                  <a:pt x="2948940" y="342900"/>
                </a:lnTo>
                <a:lnTo>
                  <a:pt x="0" y="342900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117571" b="-1175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565785" y="1019175"/>
            <a:ext cx="915543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756" b="1">
                <a:solidFill>
                  <a:srgbClr val="17191F"/>
                </a:solidFill>
                <a:latin typeface="Inter Bold"/>
                <a:ea typeface="Inter Bold"/>
                <a:cs typeface="Inter Bold"/>
                <a:sym typeface="Inter Bold"/>
              </a:rPr>
              <a:t>Facial-expression recognition for service contexts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89502" y="2070830"/>
            <a:ext cx="1300162" cy="343472"/>
            <a:chOff x="0" y="0"/>
            <a:chExt cx="1733550" cy="45796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33550" cy="457835"/>
            </a:xfrm>
            <a:custGeom>
              <a:avLst/>
              <a:gdLst/>
              <a:ahLst/>
              <a:cxnLst/>
              <a:rect l="l" t="t" r="r" b="b"/>
              <a:pathLst>
                <a:path w="1733550" h="457835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618996" y="0"/>
                  </a:lnTo>
                  <a:cubicBezTo>
                    <a:pt x="1682242" y="0"/>
                    <a:pt x="1733550" y="51308"/>
                    <a:pt x="1733550" y="114427"/>
                  </a:cubicBezTo>
                  <a:lnTo>
                    <a:pt x="1733550" y="343408"/>
                  </a:lnTo>
                  <a:cubicBezTo>
                    <a:pt x="1733550" y="406654"/>
                    <a:pt x="1682242" y="457835"/>
                    <a:pt x="1618996" y="457835"/>
                  </a:cubicBezTo>
                  <a:lnTo>
                    <a:pt x="114427" y="457835"/>
                  </a:lnTo>
                  <a:cubicBezTo>
                    <a:pt x="51308" y="457962"/>
                    <a:pt x="0" y="406654"/>
                    <a:pt x="0" y="343408"/>
                  </a:cubicBezTo>
                  <a:close/>
                </a:path>
              </a:pathLst>
            </a:custGeom>
            <a:solidFill>
              <a:srgbClr val="FFF0E3"/>
            </a:solidFill>
            <a:ln w="14288" cap="sq">
              <a:solidFill>
                <a:srgbClr val="FFF0E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9803" y="2088261"/>
            <a:ext cx="1059561" cy="288036"/>
            <a:chOff x="0" y="0"/>
            <a:chExt cx="1412748" cy="3840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12748" cy="384048"/>
            </a:xfrm>
            <a:custGeom>
              <a:avLst/>
              <a:gdLst/>
              <a:ahLst/>
              <a:cxnLst/>
              <a:rect l="l" t="t" r="r" b="b"/>
              <a:pathLst>
                <a:path w="1412748" h="384048">
                  <a:moveTo>
                    <a:pt x="0" y="0"/>
                  </a:moveTo>
                  <a:lnTo>
                    <a:pt x="1412748" y="0"/>
                  </a:lnTo>
                  <a:lnTo>
                    <a:pt x="141274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677" b="-2167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1412748" cy="384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47"/>
                </a:lnSpc>
              </a:pPr>
              <a:r>
                <a:rPr lang="en-US" sz="956" b="1">
                  <a:solidFill>
                    <a:srgbClr val="17191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GROUP RESEARCH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029682" y="2070830"/>
            <a:ext cx="2534602" cy="343472"/>
            <a:chOff x="0" y="0"/>
            <a:chExt cx="3379470" cy="4579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379343" cy="457835"/>
            </a:xfrm>
            <a:custGeom>
              <a:avLst/>
              <a:gdLst/>
              <a:ahLst/>
              <a:cxnLst/>
              <a:rect l="l" t="t" r="r" b="b"/>
              <a:pathLst>
                <a:path w="3379343" h="457835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264916" y="0"/>
                  </a:lnTo>
                  <a:cubicBezTo>
                    <a:pt x="3328162" y="0"/>
                    <a:pt x="3379343" y="51308"/>
                    <a:pt x="3379343" y="114427"/>
                  </a:cubicBezTo>
                  <a:lnTo>
                    <a:pt x="3379343" y="343408"/>
                  </a:lnTo>
                  <a:cubicBezTo>
                    <a:pt x="3379343" y="406654"/>
                    <a:pt x="3328035" y="457835"/>
                    <a:pt x="3264916" y="457835"/>
                  </a:cubicBezTo>
                  <a:lnTo>
                    <a:pt x="114427" y="457835"/>
                  </a:lnTo>
                  <a:cubicBezTo>
                    <a:pt x="51308" y="457962"/>
                    <a:pt x="0" y="406654"/>
                    <a:pt x="0" y="343408"/>
                  </a:cubicBezTo>
                  <a:close/>
                </a:path>
              </a:pathLst>
            </a:custGeom>
            <a:solidFill>
              <a:srgbClr val="E8EEFF"/>
            </a:solidFill>
            <a:ln w="14288" cap="sq">
              <a:solidFill>
                <a:srgbClr val="E8EE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149983" y="2088261"/>
            <a:ext cx="2294001" cy="288036"/>
            <a:chOff x="0" y="0"/>
            <a:chExt cx="3058668" cy="38404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058668" cy="384048"/>
            </a:xfrm>
            <a:custGeom>
              <a:avLst/>
              <a:gdLst/>
              <a:ahLst/>
              <a:cxnLst/>
              <a:rect l="l" t="t" r="r" b="b"/>
              <a:pathLst>
                <a:path w="3058668" h="384048">
                  <a:moveTo>
                    <a:pt x="0" y="0"/>
                  </a:moveTo>
                  <a:lnTo>
                    <a:pt x="3058668" y="0"/>
                  </a:lnTo>
                  <a:lnTo>
                    <a:pt x="305866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184" b="-10518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3058668" cy="384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47"/>
                </a:lnSpc>
              </a:pPr>
              <a:r>
                <a:rPr lang="en-US" sz="956" b="1" dirty="0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ROLE • ALGORITHM DEVELOPER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9709785" y="405765"/>
            <a:ext cx="717118" cy="24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C4C8D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946AD465-8993-65FE-B337-2976049CD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03" y="2799969"/>
            <a:ext cx="4099630" cy="3181731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35BD7858-5EC1-483C-C353-A4CB13C742E8}"/>
              </a:ext>
            </a:extLst>
          </p:cNvPr>
          <p:cNvGrpSpPr/>
          <p:nvPr/>
        </p:nvGrpSpPr>
        <p:grpSpPr>
          <a:xfrm>
            <a:off x="6134100" y="3322216"/>
            <a:ext cx="3395853" cy="5205222"/>
            <a:chOff x="6269355" y="3065526"/>
            <a:chExt cx="3395853" cy="5205222"/>
          </a:xfrm>
        </p:grpSpPr>
        <p:grpSp>
          <p:nvGrpSpPr>
            <p:cNvPr id="29" name="Group 29"/>
            <p:cNvGrpSpPr/>
            <p:nvPr/>
          </p:nvGrpSpPr>
          <p:grpSpPr>
            <a:xfrm>
              <a:off x="6269355" y="4551426"/>
              <a:ext cx="1575054" cy="957834"/>
              <a:chOff x="0" y="0"/>
              <a:chExt cx="2100072" cy="127711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100072" cy="1277112"/>
              </a:xfrm>
              <a:custGeom>
                <a:avLst/>
                <a:gdLst/>
                <a:ahLst/>
                <a:cxnLst/>
                <a:rect l="l" t="t" r="r" b="b"/>
                <a:pathLst>
                  <a:path w="2100072" h="1277112">
                    <a:moveTo>
                      <a:pt x="0" y="194310"/>
                    </a:moveTo>
                    <a:cubicBezTo>
                      <a:pt x="0" y="86995"/>
                      <a:pt x="86995" y="0"/>
                      <a:pt x="194310" y="0"/>
                    </a:cubicBezTo>
                    <a:lnTo>
                      <a:pt x="1905762" y="0"/>
                    </a:lnTo>
                    <a:cubicBezTo>
                      <a:pt x="2013077" y="0"/>
                      <a:pt x="2100072" y="86995"/>
                      <a:pt x="2100072" y="194310"/>
                    </a:cubicBezTo>
                    <a:lnTo>
                      <a:pt x="2100072" y="1082802"/>
                    </a:lnTo>
                    <a:cubicBezTo>
                      <a:pt x="2100072" y="1190117"/>
                      <a:pt x="2013077" y="1277112"/>
                      <a:pt x="1905762" y="1277112"/>
                    </a:cubicBezTo>
                    <a:lnTo>
                      <a:pt x="194310" y="1277112"/>
                    </a:lnTo>
                    <a:cubicBezTo>
                      <a:pt x="86995" y="1277112"/>
                      <a:pt x="0" y="1190117"/>
                      <a:pt x="0" y="1082802"/>
                    </a:cubicBezTo>
                    <a:close/>
                  </a:path>
                </a:pathLst>
              </a:custGeom>
              <a:solidFill>
                <a:srgbClr val="E8EEFF"/>
              </a:solidFill>
              <a:ln w="11430" cap="sq">
                <a:solidFill>
                  <a:srgbClr val="E8EE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419088" y="4660011"/>
              <a:ext cx="1275588" cy="370332"/>
              <a:chOff x="0" y="0"/>
              <a:chExt cx="1700784" cy="49377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00784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493776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493776"/>
                    </a:lnTo>
                    <a:lnTo>
                      <a:pt x="0" y="49377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7115" b="-1711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0"/>
                <a:ext cx="1700784" cy="49377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65"/>
                  </a:lnSpc>
                </a:pPr>
                <a:r>
                  <a:rPr lang="en-US" sz="2137" b="1">
                    <a:solidFill>
                      <a:srgbClr val="496C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0.97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419088" y="5092065"/>
              <a:ext cx="1275588" cy="246888"/>
              <a:chOff x="0" y="0"/>
              <a:chExt cx="1700784" cy="32918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00784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329184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329184"/>
                    </a:lnTo>
                    <a:lnTo>
                      <a:pt x="0" y="32918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0672" b="-5067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0"/>
                <a:ext cx="1700784" cy="32918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39"/>
                  </a:lnSpc>
                </a:pPr>
                <a:r>
                  <a:rPr lang="en-US" sz="866" b="1">
                    <a:solidFill>
                      <a:srgbClr val="636A78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MOBILENET F1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090154" y="4551426"/>
              <a:ext cx="1575054" cy="957834"/>
              <a:chOff x="0" y="0"/>
              <a:chExt cx="2100072" cy="127711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2100072" cy="1277112"/>
              </a:xfrm>
              <a:custGeom>
                <a:avLst/>
                <a:gdLst/>
                <a:ahLst/>
                <a:cxnLst/>
                <a:rect l="l" t="t" r="r" b="b"/>
                <a:pathLst>
                  <a:path w="2100072" h="1277112">
                    <a:moveTo>
                      <a:pt x="0" y="194310"/>
                    </a:moveTo>
                    <a:cubicBezTo>
                      <a:pt x="0" y="86995"/>
                      <a:pt x="86995" y="0"/>
                      <a:pt x="194310" y="0"/>
                    </a:cubicBezTo>
                    <a:lnTo>
                      <a:pt x="1905762" y="0"/>
                    </a:lnTo>
                    <a:cubicBezTo>
                      <a:pt x="2013077" y="0"/>
                      <a:pt x="2100072" y="86995"/>
                      <a:pt x="2100072" y="194310"/>
                    </a:cubicBezTo>
                    <a:lnTo>
                      <a:pt x="2100072" y="1082802"/>
                    </a:lnTo>
                    <a:cubicBezTo>
                      <a:pt x="2100072" y="1190117"/>
                      <a:pt x="2013077" y="1277112"/>
                      <a:pt x="1905762" y="1277112"/>
                    </a:cubicBezTo>
                    <a:lnTo>
                      <a:pt x="194310" y="1277112"/>
                    </a:lnTo>
                    <a:cubicBezTo>
                      <a:pt x="86995" y="1277112"/>
                      <a:pt x="0" y="1190117"/>
                      <a:pt x="0" y="1082802"/>
                    </a:cubicBezTo>
                    <a:close/>
                  </a:path>
                </a:pathLst>
              </a:custGeom>
              <a:solidFill>
                <a:srgbClr val="E2F7EC"/>
              </a:solidFill>
              <a:ln w="11430" cap="sq">
                <a:solidFill>
                  <a:srgbClr val="E2F7E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8239887" y="4660011"/>
              <a:ext cx="1275588" cy="370332"/>
              <a:chOff x="0" y="0"/>
              <a:chExt cx="1700784" cy="49377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700784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493776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493776"/>
                    </a:lnTo>
                    <a:lnTo>
                      <a:pt x="0" y="49377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7115" b="-1711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0"/>
                <a:ext cx="1700784" cy="49377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65"/>
                  </a:lnSpc>
                </a:pPr>
                <a:r>
                  <a:rPr lang="en-US" sz="2137" b="1">
                    <a:solidFill>
                      <a:srgbClr val="17191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0.93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239887" y="5092065"/>
              <a:ext cx="1275588" cy="246888"/>
              <a:chOff x="0" y="0"/>
              <a:chExt cx="1700784" cy="32918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700784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1700784" h="329184">
                    <a:moveTo>
                      <a:pt x="0" y="0"/>
                    </a:moveTo>
                    <a:lnTo>
                      <a:pt x="1700784" y="0"/>
                    </a:lnTo>
                    <a:lnTo>
                      <a:pt x="1700784" y="329184"/>
                    </a:lnTo>
                    <a:lnTo>
                      <a:pt x="0" y="32918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0672" b="-5067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0"/>
                <a:ext cx="1700784" cy="32918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39"/>
                  </a:lnSpc>
                </a:pPr>
                <a:r>
                  <a:rPr lang="en-US" sz="866" b="1">
                    <a:solidFill>
                      <a:srgbClr val="636A78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LANDMARK SVM AUC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275070" y="5843016"/>
              <a:ext cx="3384423" cy="226314"/>
              <a:chOff x="0" y="0"/>
              <a:chExt cx="4512564" cy="30175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4512564" cy="301752"/>
              </a:xfrm>
              <a:custGeom>
                <a:avLst/>
                <a:gdLst/>
                <a:ahLst/>
                <a:cxnLst/>
                <a:rect l="l" t="t" r="r" b="b"/>
                <a:pathLst>
                  <a:path w="4512564" h="301752">
                    <a:moveTo>
                      <a:pt x="0" y="0"/>
                    </a:moveTo>
                    <a:lnTo>
                      <a:pt x="4512564" y="0"/>
                    </a:lnTo>
                    <a:lnTo>
                      <a:pt x="4512564" y="301752"/>
                    </a:lnTo>
                    <a:lnTo>
                      <a:pt x="0" y="301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41389" b="-24138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0"/>
                <a:ext cx="4512564" cy="3017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26"/>
                  </a:lnSpc>
                </a:pPr>
                <a:r>
                  <a:rPr lang="en-US" sz="855" b="1" spc="123">
                    <a:solidFill>
                      <a:srgbClr val="496C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IMPACT</a:t>
                </a:r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6275070" y="6121527"/>
              <a:ext cx="3384423" cy="770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85"/>
                </a:lnSpc>
              </a:pPr>
              <a:r>
                <a:rPr lang="en-US" sz="1237">
                  <a:solidFill>
                    <a:srgbClr val="17191F"/>
                  </a:solidFill>
                  <a:latin typeface="Inter"/>
                  <a:ea typeface="Inter"/>
                  <a:cs typeface="Inter"/>
                  <a:sym typeface="Inter"/>
                </a:rPr>
                <a:t>Demonstrated two viable real-time approaches with different strengths: headline recognition performance versus robustness on landmark features.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6275070" y="7221474"/>
              <a:ext cx="3384423" cy="226314"/>
              <a:chOff x="0" y="0"/>
              <a:chExt cx="4512564" cy="30175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4512564" cy="301752"/>
              </a:xfrm>
              <a:custGeom>
                <a:avLst/>
                <a:gdLst/>
                <a:ahLst/>
                <a:cxnLst/>
                <a:rect l="l" t="t" r="r" b="b"/>
                <a:pathLst>
                  <a:path w="4512564" h="301752">
                    <a:moveTo>
                      <a:pt x="0" y="0"/>
                    </a:moveTo>
                    <a:lnTo>
                      <a:pt x="4512564" y="0"/>
                    </a:lnTo>
                    <a:lnTo>
                      <a:pt x="4512564" y="301752"/>
                    </a:lnTo>
                    <a:lnTo>
                      <a:pt x="0" y="301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41389" b="-24138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0"/>
                <a:ext cx="4512564" cy="3017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26"/>
                  </a:lnSpc>
                </a:pPr>
                <a:r>
                  <a:rPr lang="en-US" sz="855" b="1" spc="123">
                    <a:solidFill>
                      <a:srgbClr val="496C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WHAT I LEARNED</a:t>
                </a:r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6275070" y="7499985"/>
              <a:ext cx="3384423" cy="770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85"/>
                </a:lnSpc>
              </a:pPr>
              <a:r>
                <a:rPr lang="en-US" sz="1237" dirty="0">
                  <a:solidFill>
                    <a:srgbClr val="17191F"/>
                  </a:solidFill>
                  <a:latin typeface="Inter"/>
                  <a:ea typeface="Inter"/>
                  <a:cs typeface="Inter"/>
                  <a:sym typeface="Inter"/>
                </a:rPr>
                <a:t>Human-behavior AI needs careful interpretation. A model should support judgment, not turn a noisy signal into an unquestioned score.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522DE15-73A5-29B5-4FAF-92D5271E41A7}"/>
                </a:ext>
              </a:extLst>
            </p:cNvPr>
            <p:cNvGrpSpPr/>
            <p:nvPr/>
          </p:nvGrpSpPr>
          <p:grpSpPr>
            <a:xfrm>
              <a:off x="6269355" y="3065526"/>
              <a:ext cx="3390138" cy="1286999"/>
              <a:chOff x="6269355" y="2606011"/>
              <a:chExt cx="3390138" cy="1286999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6275070" y="2880360"/>
                <a:ext cx="3384423" cy="101265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620"/>
                  </a:lnSpc>
                </a:pPr>
                <a:r>
                  <a:rPr lang="en-US" sz="1240" dirty="0">
                    <a:solidFill>
                      <a:srgbClr val="17191F"/>
                    </a:solidFill>
                    <a:latin typeface="Inter"/>
                    <a:ea typeface="Inter"/>
                    <a:cs typeface="Inter"/>
                    <a:sym typeface="Inter"/>
                  </a:rPr>
                  <a:t>This work compares deep-learning and landmark-based approaches for real-time facial-expression recognition, exploring how computer vision might support more efficient service-quality evaluation.</a:t>
                </a:r>
              </a:p>
            </p:txBody>
          </p:sp>
          <p:sp>
            <p:nvSpPr>
              <p:cNvPr id="57" name="TextBox 63">
                <a:extLst>
                  <a:ext uri="{FF2B5EF4-FFF2-40B4-BE49-F238E27FC236}">
                    <a16:creationId xmlns:a16="http://schemas.microsoft.com/office/drawing/2014/main" id="{C5264AA7-C7C9-0511-99DE-0FB670A94ADB}"/>
                  </a:ext>
                </a:extLst>
              </p:cNvPr>
              <p:cNvSpPr txBox="1"/>
              <p:nvPr/>
            </p:nvSpPr>
            <p:spPr>
              <a:xfrm>
                <a:off x="6269355" y="2606011"/>
                <a:ext cx="3343275" cy="22631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26"/>
                  </a:lnSpc>
                </a:pPr>
                <a:r>
                  <a:rPr lang="en-US" sz="855" b="1" spc="123" dirty="0">
                    <a:solidFill>
                      <a:srgbClr val="496C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DESCRIPTION</a:t>
                </a:r>
              </a:p>
            </p:txBody>
          </p:sp>
        </p:grp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2C3F91D3-59E7-FBDD-2888-A97043F8F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53" y="6097669"/>
            <a:ext cx="2984975" cy="36104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5785" y="9824085"/>
            <a:ext cx="2263140" cy="185166"/>
            <a:chOff x="0" y="0"/>
            <a:chExt cx="3017520" cy="246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7520" cy="246888"/>
            </a:xfrm>
            <a:custGeom>
              <a:avLst/>
              <a:gdLst/>
              <a:ahLst/>
              <a:cxnLst/>
              <a:rect l="l" t="t" r="r" b="b"/>
              <a:pathLst>
                <a:path w="3017520" h="246888">
                  <a:moveTo>
                    <a:pt x="0" y="0"/>
                  </a:moveTo>
                  <a:lnTo>
                    <a:pt x="3017520" y="0"/>
                  </a:lnTo>
                  <a:lnTo>
                    <a:pt x="301752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01752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@marvelm69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51885" y="9824085"/>
            <a:ext cx="2983230" cy="185166"/>
            <a:chOff x="0" y="0"/>
            <a:chExt cx="3977640" cy="2468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77640" cy="246888"/>
            </a:xfrm>
            <a:custGeom>
              <a:avLst/>
              <a:gdLst/>
              <a:ahLst/>
              <a:cxnLst/>
              <a:rect l="l" t="t" r="r" b="b"/>
              <a:pathLst>
                <a:path w="3977640" h="246888">
                  <a:moveTo>
                    <a:pt x="0" y="0"/>
                  </a:moveTo>
                  <a:lnTo>
                    <a:pt x="3977640" y="0"/>
                  </a:lnTo>
                  <a:lnTo>
                    <a:pt x="397764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3925" b="-2639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397764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marvel.m818@gmail.com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43725" y="9824085"/>
            <a:ext cx="2777490" cy="185166"/>
            <a:chOff x="0" y="0"/>
            <a:chExt cx="3703320" cy="2468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03320" cy="246888"/>
            </a:xfrm>
            <a:custGeom>
              <a:avLst/>
              <a:gdLst/>
              <a:ahLst/>
              <a:cxnLst/>
              <a:rect l="l" t="t" r="r" b="b"/>
              <a:pathLst>
                <a:path w="3703320" h="246888">
                  <a:moveTo>
                    <a:pt x="0" y="0"/>
                  </a:moveTo>
                  <a:lnTo>
                    <a:pt x="3703320" y="0"/>
                  </a:lnTo>
                  <a:lnTo>
                    <a:pt x="370332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370332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marvel-portfolio-two.vercel.app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5785" y="514350"/>
            <a:ext cx="720090" cy="360045"/>
            <a:chOff x="0" y="0"/>
            <a:chExt cx="960120" cy="4800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60120" cy="480060"/>
            </a:xfrm>
            <a:custGeom>
              <a:avLst/>
              <a:gdLst/>
              <a:ahLst/>
              <a:cxnLst/>
              <a:rect l="l" t="t" r="r" b="b"/>
              <a:pathLst>
                <a:path w="960120" h="480060">
                  <a:moveTo>
                    <a:pt x="0" y="0"/>
                  </a:moveTo>
                  <a:lnTo>
                    <a:pt x="960120" y="0"/>
                  </a:lnTo>
                  <a:lnTo>
                    <a:pt x="960120" y="480060"/>
                  </a:lnTo>
                  <a:lnTo>
                    <a:pt x="0" y="4800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960120" cy="4895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496CFF"/>
                  </a:solidFill>
                  <a:latin typeface="Inter"/>
                  <a:ea typeface="Inter"/>
                  <a:cs typeface="Inter"/>
                  <a:sym typeface="Inter"/>
                </a:rPr>
                <a:t>05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7458075" y="555498"/>
            <a:ext cx="2211705" cy="257175"/>
          </a:xfrm>
          <a:custGeom>
            <a:avLst/>
            <a:gdLst/>
            <a:ahLst/>
            <a:cxnLst/>
            <a:rect l="l" t="t" r="r" b="b"/>
            <a:pathLst>
              <a:path w="2948940" h="342900">
                <a:moveTo>
                  <a:pt x="0" y="0"/>
                </a:moveTo>
                <a:lnTo>
                  <a:pt x="2948940" y="0"/>
                </a:lnTo>
                <a:lnTo>
                  <a:pt x="2948940" y="342900"/>
                </a:lnTo>
                <a:lnTo>
                  <a:pt x="0" y="342900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117571" b="-11757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589502" y="2070830"/>
            <a:ext cx="2071688" cy="343472"/>
            <a:chOff x="0" y="0"/>
            <a:chExt cx="2762250" cy="45796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62250" cy="457835"/>
            </a:xfrm>
            <a:custGeom>
              <a:avLst/>
              <a:gdLst/>
              <a:ahLst/>
              <a:cxnLst/>
              <a:rect l="l" t="t" r="r" b="b"/>
              <a:pathLst>
                <a:path w="2762250" h="457835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2647696" y="0"/>
                  </a:lnTo>
                  <a:cubicBezTo>
                    <a:pt x="2710942" y="0"/>
                    <a:pt x="2762250" y="51308"/>
                    <a:pt x="2762250" y="114427"/>
                  </a:cubicBezTo>
                  <a:lnTo>
                    <a:pt x="2762250" y="343408"/>
                  </a:lnTo>
                  <a:cubicBezTo>
                    <a:pt x="2762250" y="406654"/>
                    <a:pt x="2710942" y="457835"/>
                    <a:pt x="2647696" y="457835"/>
                  </a:cubicBezTo>
                  <a:lnTo>
                    <a:pt x="114427" y="457835"/>
                  </a:lnTo>
                  <a:cubicBezTo>
                    <a:pt x="51308" y="457962"/>
                    <a:pt x="0" y="406654"/>
                    <a:pt x="0" y="343408"/>
                  </a:cubicBezTo>
                  <a:close/>
                </a:path>
              </a:pathLst>
            </a:custGeom>
            <a:solidFill>
              <a:srgbClr val="FFEAF5"/>
            </a:solidFill>
            <a:ln w="14288" cap="sq">
              <a:solidFill>
                <a:srgbClr val="FFEAF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9803" y="2088261"/>
            <a:ext cx="1831086" cy="288036"/>
            <a:chOff x="0" y="0"/>
            <a:chExt cx="2441448" cy="3840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41448" cy="384048"/>
            </a:xfrm>
            <a:custGeom>
              <a:avLst/>
              <a:gdLst/>
              <a:ahLst/>
              <a:cxnLst/>
              <a:rect l="l" t="t" r="r" b="b"/>
              <a:pathLst>
                <a:path w="2441448" h="384048">
                  <a:moveTo>
                    <a:pt x="0" y="0"/>
                  </a:moveTo>
                  <a:lnTo>
                    <a:pt x="2441448" y="0"/>
                  </a:lnTo>
                  <a:lnTo>
                    <a:pt x="244144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3869" b="-7386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2441448" cy="384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47"/>
                </a:lnSpc>
              </a:pPr>
              <a:r>
                <a:rPr lang="en-US" sz="956" b="1">
                  <a:solidFill>
                    <a:srgbClr val="17191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GROUP RESEARCH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21781" y="2070830"/>
            <a:ext cx="2637472" cy="343472"/>
            <a:chOff x="0" y="0"/>
            <a:chExt cx="3516630" cy="4579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516503" cy="457835"/>
            </a:xfrm>
            <a:custGeom>
              <a:avLst/>
              <a:gdLst/>
              <a:ahLst/>
              <a:cxnLst/>
              <a:rect l="l" t="t" r="r" b="b"/>
              <a:pathLst>
                <a:path w="3516503" h="457835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402076" y="0"/>
                  </a:lnTo>
                  <a:cubicBezTo>
                    <a:pt x="3465322" y="0"/>
                    <a:pt x="3516503" y="51308"/>
                    <a:pt x="3516503" y="114427"/>
                  </a:cubicBezTo>
                  <a:lnTo>
                    <a:pt x="3516503" y="343408"/>
                  </a:lnTo>
                  <a:cubicBezTo>
                    <a:pt x="3516503" y="406654"/>
                    <a:pt x="3465195" y="457835"/>
                    <a:pt x="3402076" y="457835"/>
                  </a:cubicBezTo>
                  <a:lnTo>
                    <a:pt x="114427" y="457835"/>
                  </a:lnTo>
                  <a:cubicBezTo>
                    <a:pt x="51308" y="457962"/>
                    <a:pt x="0" y="406654"/>
                    <a:pt x="0" y="343408"/>
                  </a:cubicBezTo>
                  <a:close/>
                </a:path>
              </a:pathLst>
            </a:custGeom>
            <a:solidFill>
              <a:srgbClr val="E8EEFF"/>
            </a:solidFill>
            <a:ln w="14288" cap="sq">
              <a:solidFill>
                <a:srgbClr val="E8EE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942082" y="2088261"/>
            <a:ext cx="2396871" cy="288036"/>
            <a:chOff x="0" y="0"/>
            <a:chExt cx="3195828" cy="38404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95828" cy="384048"/>
            </a:xfrm>
            <a:custGeom>
              <a:avLst/>
              <a:gdLst/>
              <a:ahLst/>
              <a:cxnLst/>
              <a:rect l="l" t="t" r="r" b="b"/>
              <a:pathLst>
                <a:path w="3195828" h="384048">
                  <a:moveTo>
                    <a:pt x="0" y="0"/>
                  </a:moveTo>
                  <a:lnTo>
                    <a:pt x="3195828" y="0"/>
                  </a:lnTo>
                  <a:lnTo>
                    <a:pt x="319582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2143" b="-11214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3195828" cy="384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47"/>
                </a:lnSpc>
              </a:pPr>
              <a:r>
                <a:rPr lang="en-US" sz="956" b="1" dirty="0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ROLE • LEAD RESEARCHER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210301" y="3918758"/>
            <a:ext cx="3343275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A published study (ICCSCI 2024, Procedia Computer Science) that screens for bipolar disorder from crowdsourced free-text symptom reports, turning everyday descriptions of symptoms into features a model can learn from.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210300" y="5294681"/>
            <a:ext cx="3343275" cy="226314"/>
            <a:chOff x="0" y="0"/>
            <a:chExt cx="4457700" cy="3017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457700" cy="301752"/>
            </a:xfrm>
            <a:custGeom>
              <a:avLst/>
              <a:gdLst/>
              <a:ahLst/>
              <a:cxnLst/>
              <a:rect l="l" t="t" r="r" b="b"/>
              <a:pathLst>
                <a:path w="4457700" h="301752">
                  <a:moveTo>
                    <a:pt x="0" y="0"/>
                  </a:moveTo>
                  <a:lnTo>
                    <a:pt x="4457700" y="0"/>
                  </a:lnTo>
                  <a:lnTo>
                    <a:pt x="4457700" y="301752"/>
                  </a:lnTo>
                  <a:lnTo>
                    <a:pt x="0" y="301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7847" b="-2378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4457700" cy="301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26"/>
                </a:lnSpc>
              </a:pPr>
              <a:r>
                <a:rPr lang="en-US" sz="855" b="1" spc="123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IMPACT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210300" y="5573192"/>
            <a:ext cx="3343275" cy="95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dirty="0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Best models reach 0.88 accuracy and 0.74 F1 (precision 0.70, recall 0.78), and SHAP surfaces the symptoms behind each prediction — built for an initial screening step, not a black box.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210300" y="6693713"/>
            <a:ext cx="3343275" cy="226314"/>
            <a:chOff x="0" y="0"/>
            <a:chExt cx="4457700" cy="30175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457700" cy="301752"/>
            </a:xfrm>
            <a:custGeom>
              <a:avLst/>
              <a:gdLst/>
              <a:ahLst/>
              <a:cxnLst/>
              <a:rect l="l" t="t" r="r" b="b"/>
              <a:pathLst>
                <a:path w="4457700" h="301752">
                  <a:moveTo>
                    <a:pt x="0" y="0"/>
                  </a:moveTo>
                  <a:lnTo>
                    <a:pt x="4457700" y="0"/>
                  </a:lnTo>
                  <a:lnTo>
                    <a:pt x="4457700" y="301752"/>
                  </a:lnTo>
                  <a:lnTo>
                    <a:pt x="0" y="301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7847" b="-2378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4457700" cy="301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26"/>
                </a:lnSpc>
              </a:pPr>
              <a:r>
                <a:rPr lang="en-US" sz="855" b="1" spc="123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WHAT I’M LEARNING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6210300" y="6972224"/>
            <a:ext cx="3343275" cy="770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In mental-health AI, explainability is part of the result. A screening model is only useful if a clinician can see why it reached its conclusion.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09785" y="405765"/>
            <a:ext cx="717118" cy="24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C4C8D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</a:p>
        </p:txBody>
      </p:sp>
      <p:pic>
        <p:nvPicPr>
          <p:cNvPr id="904" name="Project visu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" y="2650255"/>
            <a:ext cx="5345381" cy="2540309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65785" y="1019175"/>
            <a:ext cx="915543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756" b="1">
                <a:solidFill>
                  <a:srgbClr val="17191F"/>
                </a:solidFill>
                <a:latin typeface="Inter Bold"/>
                <a:ea typeface="Inter Bold"/>
                <a:cs typeface="Inter Bold"/>
                <a:sym typeface="Inter Bold"/>
              </a:rPr>
              <a:t>Detecting bipolar disorder from free-text symptoms</a:t>
            </a:r>
          </a:p>
        </p:txBody>
      </p:sp>
      <p:sp>
        <p:nvSpPr>
          <p:cNvPr id="45" name="TextBox 63">
            <a:extLst>
              <a:ext uri="{FF2B5EF4-FFF2-40B4-BE49-F238E27FC236}">
                <a16:creationId xmlns:a16="http://schemas.microsoft.com/office/drawing/2014/main" id="{FA8851BD-3E64-B13A-B9E5-61F1DDDA49B8}"/>
              </a:ext>
            </a:extLst>
          </p:cNvPr>
          <p:cNvSpPr txBox="1"/>
          <p:nvPr/>
        </p:nvSpPr>
        <p:spPr>
          <a:xfrm>
            <a:off x="6210300" y="3685870"/>
            <a:ext cx="3343275" cy="22631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1026"/>
              </a:lnSpc>
            </a:pPr>
            <a:r>
              <a:rPr lang="en-US" sz="855" b="1" spc="123" dirty="0">
                <a:solidFill>
                  <a:srgbClr val="496CFF"/>
                </a:solidFill>
                <a:latin typeface="Inter Bold"/>
                <a:ea typeface="Inter Bold"/>
                <a:cs typeface="Inter Bold"/>
                <a:sym typeface="Inter Bold"/>
              </a:rPr>
              <a:t>DESCRIPTION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43D23CB-9FBA-9333-0AC6-DD2B3A82E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02" y="5547371"/>
            <a:ext cx="4039164" cy="37247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5785" y="9824085"/>
            <a:ext cx="2263140" cy="185166"/>
            <a:chOff x="0" y="0"/>
            <a:chExt cx="3017520" cy="246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7520" cy="246888"/>
            </a:xfrm>
            <a:custGeom>
              <a:avLst/>
              <a:gdLst/>
              <a:ahLst/>
              <a:cxnLst/>
              <a:rect l="l" t="t" r="r" b="b"/>
              <a:pathLst>
                <a:path w="3017520" h="246888">
                  <a:moveTo>
                    <a:pt x="0" y="0"/>
                  </a:moveTo>
                  <a:lnTo>
                    <a:pt x="3017520" y="0"/>
                  </a:lnTo>
                  <a:lnTo>
                    <a:pt x="301752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01752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@marvelm69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51885" y="9824085"/>
            <a:ext cx="2983230" cy="185166"/>
            <a:chOff x="0" y="0"/>
            <a:chExt cx="3977640" cy="2468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77640" cy="246888"/>
            </a:xfrm>
            <a:custGeom>
              <a:avLst/>
              <a:gdLst/>
              <a:ahLst/>
              <a:cxnLst/>
              <a:rect l="l" t="t" r="r" b="b"/>
              <a:pathLst>
                <a:path w="3977640" h="246888">
                  <a:moveTo>
                    <a:pt x="0" y="0"/>
                  </a:moveTo>
                  <a:lnTo>
                    <a:pt x="3977640" y="0"/>
                  </a:lnTo>
                  <a:lnTo>
                    <a:pt x="397764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3925" b="-2639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397764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marvel.m818@gmail.com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43725" y="9824085"/>
            <a:ext cx="2777490" cy="185166"/>
            <a:chOff x="0" y="0"/>
            <a:chExt cx="3703320" cy="2468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03320" cy="246888"/>
            </a:xfrm>
            <a:custGeom>
              <a:avLst/>
              <a:gdLst/>
              <a:ahLst/>
              <a:cxnLst/>
              <a:rect l="l" t="t" r="r" b="b"/>
              <a:pathLst>
                <a:path w="3703320" h="246888">
                  <a:moveTo>
                    <a:pt x="0" y="0"/>
                  </a:moveTo>
                  <a:lnTo>
                    <a:pt x="3703320" y="0"/>
                  </a:lnTo>
                  <a:lnTo>
                    <a:pt x="3703320" y="246888"/>
                  </a:lnTo>
                  <a:lnTo>
                    <a:pt x="0" y="246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3703320" cy="246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012"/>
                </a:lnSpc>
              </a:pPr>
              <a:r>
                <a:rPr lang="en-US" sz="843">
                  <a:solidFill>
                    <a:srgbClr val="5E6472"/>
                  </a:solidFill>
                  <a:latin typeface="Inter"/>
                  <a:ea typeface="Inter"/>
                  <a:cs typeface="Inter"/>
                  <a:sym typeface="Inter"/>
                </a:rPr>
                <a:t>marvel-portfolio-two.vercel.app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502" y="661511"/>
            <a:ext cx="1505902" cy="343472"/>
            <a:chOff x="0" y="0"/>
            <a:chExt cx="2007870" cy="4579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07870" cy="457835"/>
            </a:xfrm>
            <a:custGeom>
              <a:avLst/>
              <a:gdLst/>
              <a:ahLst/>
              <a:cxnLst/>
              <a:rect l="l" t="t" r="r" b="b"/>
              <a:pathLst>
                <a:path w="2007870" h="457835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893316" y="0"/>
                  </a:lnTo>
                  <a:cubicBezTo>
                    <a:pt x="1956562" y="0"/>
                    <a:pt x="2007870" y="51308"/>
                    <a:pt x="2007870" y="114427"/>
                  </a:cubicBezTo>
                  <a:lnTo>
                    <a:pt x="2007870" y="343408"/>
                  </a:lnTo>
                  <a:cubicBezTo>
                    <a:pt x="2007870" y="406654"/>
                    <a:pt x="1956562" y="457835"/>
                    <a:pt x="1893316" y="457835"/>
                  </a:cubicBezTo>
                  <a:lnTo>
                    <a:pt x="114427" y="457835"/>
                  </a:lnTo>
                  <a:cubicBezTo>
                    <a:pt x="51308" y="457962"/>
                    <a:pt x="0" y="406654"/>
                    <a:pt x="0" y="343408"/>
                  </a:cubicBezTo>
                  <a:close/>
                </a:path>
              </a:pathLst>
            </a:custGeom>
            <a:solidFill>
              <a:srgbClr val="E8EEFF"/>
            </a:solidFill>
            <a:ln w="14288" cap="sq">
              <a:solidFill>
                <a:srgbClr val="E8EE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9803" y="678942"/>
            <a:ext cx="1265301" cy="288036"/>
            <a:chOff x="0" y="0"/>
            <a:chExt cx="1687068" cy="3840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87068" cy="384048"/>
            </a:xfrm>
            <a:custGeom>
              <a:avLst/>
              <a:gdLst/>
              <a:ahLst/>
              <a:cxnLst/>
              <a:rect l="l" t="t" r="r" b="b"/>
              <a:pathLst>
                <a:path w="1687068" h="384048">
                  <a:moveTo>
                    <a:pt x="0" y="0"/>
                  </a:moveTo>
                  <a:lnTo>
                    <a:pt x="1687068" y="0"/>
                  </a:lnTo>
                  <a:lnTo>
                    <a:pt x="168706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594" b="-355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687068" cy="384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47"/>
                </a:lnSpc>
              </a:pPr>
              <a:r>
                <a:rPr lang="en-US" sz="956" b="1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WHY THE ACADEMY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96646" y="1389507"/>
            <a:ext cx="8486775" cy="1069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3262" b="1">
                <a:solidFill>
                  <a:srgbClr val="17191F"/>
                </a:solidFill>
                <a:latin typeface="Inter Bold"/>
                <a:ea typeface="Inter Bold"/>
                <a:cs typeface="Inter Bold"/>
                <a:sym typeface="Inter Bold"/>
              </a:rPr>
              <a:t>I want to become better at the part after the model works.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6646" y="2674620"/>
            <a:ext cx="7920990" cy="642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406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Across these five projects the pattern is the same: I enjoy the technical problem, but the work only feels finished when someone outside the notebook can use it. Closing that gap — between a model that scores well and a product people trust — is why I’m here.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90931" y="4263390"/>
            <a:ext cx="2727198" cy="3529584"/>
            <a:chOff x="0" y="0"/>
            <a:chExt cx="3636264" cy="47061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36264" cy="4706112"/>
            </a:xfrm>
            <a:custGeom>
              <a:avLst/>
              <a:gdLst/>
              <a:ahLst/>
              <a:cxnLst/>
              <a:rect l="l" t="t" r="r" b="b"/>
              <a:pathLst>
                <a:path w="3636264" h="4706112">
                  <a:moveTo>
                    <a:pt x="0" y="303022"/>
                  </a:moveTo>
                  <a:cubicBezTo>
                    <a:pt x="0" y="135636"/>
                    <a:pt x="135636" y="0"/>
                    <a:pt x="303022" y="0"/>
                  </a:cubicBezTo>
                  <a:lnTo>
                    <a:pt x="3333242" y="0"/>
                  </a:lnTo>
                  <a:cubicBezTo>
                    <a:pt x="3500628" y="0"/>
                    <a:pt x="3636264" y="135636"/>
                    <a:pt x="3636264" y="303022"/>
                  </a:cubicBezTo>
                  <a:lnTo>
                    <a:pt x="3636264" y="4403090"/>
                  </a:lnTo>
                  <a:cubicBezTo>
                    <a:pt x="3636264" y="4570476"/>
                    <a:pt x="3500628" y="4706112"/>
                    <a:pt x="3333242" y="4706112"/>
                  </a:cubicBezTo>
                  <a:lnTo>
                    <a:pt x="303022" y="4706112"/>
                  </a:lnTo>
                  <a:cubicBezTo>
                    <a:pt x="135636" y="4706112"/>
                    <a:pt x="0" y="4570476"/>
                    <a:pt x="0" y="4403090"/>
                  </a:cubicBezTo>
                  <a:close/>
                </a:path>
              </a:pathLst>
            </a:custGeom>
            <a:solidFill>
              <a:srgbClr val="E8EEFF"/>
            </a:solidFill>
            <a:ln w="11430" cap="sq">
              <a:solidFill>
                <a:srgbClr val="E8EE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1812" y="4546854"/>
            <a:ext cx="473202" cy="267462"/>
            <a:chOff x="0" y="0"/>
            <a:chExt cx="630936" cy="3566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0936" cy="356616"/>
            </a:xfrm>
            <a:custGeom>
              <a:avLst/>
              <a:gdLst/>
              <a:ahLst/>
              <a:cxnLst/>
              <a:rect l="l" t="t" r="r" b="b"/>
              <a:pathLst>
                <a:path w="630936" h="356616">
                  <a:moveTo>
                    <a:pt x="0" y="0"/>
                  </a:moveTo>
                  <a:lnTo>
                    <a:pt x="630936" y="0"/>
                  </a:lnTo>
                  <a:lnTo>
                    <a:pt x="630936" y="356616"/>
                  </a:lnTo>
                  <a:lnTo>
                    <a:pt x="0" y="3566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519" r="-2251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630936" cy="3566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812" y="5184648"/>
            <a:ext cx="2242566" cy="370332"/>
            <a:chOff x="0" y="0"/>
            <a:chExt cx="2990088" cy="49377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990088" cy="493776"/>
            </a:xfrm>
            <a:custGeom>
              <a:avLst/>
              <a:gdLst/>
              <a:ahLst/>
              <a:cxnLst/>
              <a:rect l="l" t="t" r="r" b="b"/>
              <a:pathLst>
                <a:path w="2990088" h="493776">
                  <a:moveTo>
                    <a:pt x="0" y="0"/>
                  </a:moveTo>
                  <a:lnTo>
                    <a:pt x="2990088" y="0"/>
                  </a:lnTo>
                  <a:lnTo>
                    <a:pt x="2990088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7992" b="-679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990088" cy="4937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25"/>
                </a:lnSpc>
              </a:pPr>
              <a:r>
                <a:rPr lang="en-US" sz="1687" b="1">
                  <a:solidFill>
                    <a:srgbClr val="17191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BUILD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81812" y="5801868"/>
            <a:ext cx="2242566" cy="70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lang="en-US" sz="1147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Take my research past notebooks and demos into real apps — stronger software, mobile, and Swift engineering.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779901" y="4263390"/>
            <a:ext cx="2727198" cy="3529584"/>
            <a:chOff x="0" y="0"/>
            <a:chExt cx="3636264" cy="47061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636264" cy="4706112"/>
            </a:xfrm>
            <a:custGeom>
              <a:avLst/>
              <a:gdLst/>
              <a:ahLst/>
              <a:cxnLst/>
              <a:rect l="l" t="t" r="r" b="b"/>
              <a:pathLst>
                <a:path w="3636264" h="4706112">
                  <a:moveTo>
                    <a:pt x="0" y="303022"/>
                  </a:moveTo>
                  <a:cubicBezTo>
                    <a:pt x="0" y="135636"/>
                    <a:pt x="135636" y="0"/>
                    <a:pt x="303022" y="0"/>
                  </a:cubicBezTo>
                  <a:lnTo>
                    <a:pt x="3333242" y="0"/>
                  </a:lnTo>
                  <a:cubicBezTo>
                    <a:pt x="3500628" y="0"/>
                    <a:pt x="3636264" y="135636"/>
                    <a:pt x="3636264" y="303022"/>
                  </a:cubicBezTo>
                  <a:lnTo>
                    <a:pt x="3636264" y="4403090"/>
                  </a:lnTo>
                  <a:cubicBezTo>
                    <a:pt x="3636264" y="4570476"/>
                    <a:pt x="3500628" y="4706112"/>
                    <a:pt x="3333242" y="4706112"/>
                  </a:cubicBezTo>
                  <a:lnTo>
                    <a:pt x="303022" y="4706112"/>
                  </a:lnTo>
                  <a:cubicBezTo>
                    <a:pt x="135636" y="4706112"/>
                    <a:pt x="0" y="4570476"/>
                    <a:pt x="0" y="4403090"/>
                  </a:cubicBezTo>
                  <a:close/>
                </a:path>
              </a:pathLst>
            </a:custGeom>
            <a:solidFill>
              <a:srgbClr val="FFEAF5"/>
            </a:solidFill>
            <a:ln w="11430" cap="sq">
              <a:solidFill>
                <a:srgbClr val="FFEAF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970782" y="4546854"/>
            <a:ext cx="473202" cy="267462"/>
            <a:chOff x="0" y="0"/>
            <a:chExt cx="630936" cy="35661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0936" cy="356616"/>
            </a:xfrm>
            <a:custGeom>
              <a:avLst/>
              <a:gdLst/>
              <a:ahLst/>
              <a:cxnLst/>
              <a:rect l="l" t="t" r="r" b="b"/>
              <a:pathLst>
                <a:path w="630936" h="356616">
                  <a:moveTo>
                    <a:pt x="0" y="0"/>
                  </a:moveTo>
                  <a:lnTo>
                    <a:pt x="630936" y="0"/>
                  </a:lnTo>
                  <a:lnTo>
                    <a:pt x="630936" y="356616"/>
                  </a:lnTo>
                  <a:lnTo>
                    <a:pt x="0" y="3566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519" r="-2251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630936" cy="3566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970782" y="5184648"/>
            <a:ext cx="2242566" cy="370332"/>
            <a:chOff x="0" y="0"/>
            <a:chExt cx="2990088" cy="4937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990088" cy="493776"/>
            </a:xfrm>
            <a:custGeom>
              <a:avLst/>
              <a:gdLst/>
              <a:ahLst/>
              <a:cxnLst/>
              <a:rect l="l" t="t" r="r" b="b"/>
              <a:pathLst>
                <a:path w="2990088" h="493776">
                  <a:moveTo>
                    <a:pt x="0" y="0"/>
                  </a:moveTo>
                  <a:lnTo>
                    <a:pt x="2990088" y="0"/>
                  </a:lnTo>
                  <a:lnTo>
                    <a:pt x="2990088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7992" b="-679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990088" cy="4937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25"/>
                </a:lnSpc>
              </a:pPr>
              <a:r>
                <a:rPr lang="en-US" sz="1687" b="1">
                  <a:solidFill>
                    <a:srgbClr val="17191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DESIGN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3970782" y="5801868"/>
            <a:ext cx="2242566" cy="70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lang="en-US" sz="1147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Turn predictions, uncertainty, and clinical or financial workflows into interfaces that feel clear and calm.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968871" y="4263390"/>
            <a:ext cx="2727198" cy="3529584"/>
            <a:chOff x="0" y="0"/>
            <a:chExt cx="3636264" cy="470611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36264" cy="4706112"/>
            </a:xfrm>
            <a:custGeom>
              <a:avLst/>
              <a:gdLst/>
              <a:ahLst/>
              <a:cxnLst/>
              <a:rect l="l" t="t" r="r" b="b"/>
              <a:pathLst>
                <a:path w="3636264" h="4706112">
                  <a:moveTo>
                    <a:pt x="0" y="303022"/>
                  </a:moveTo>
                  <a:cubicBezTo>
                    <a:pt x="0" y="135636"/>
                    <a:pt x="135636" y="0"/>
                    <a:pt x="303022" y="0"/>
                  </a:cubicBezTo>
                  <a:lnTo>
                    <a:pt x="3333242" y="0"/>
                  </a:lnTo>
                  <a:cubicBezTo>
                    <a:pt x="3500628" y="0"/>
                    <a:pt x="3636264" y="135636"/>
                    <a:pt x="3636264" y="303022"/>
                  </a:cubicBezTo>
                  <a:lnTo>
                    <a:pt x="3636264" y="4403090"/>
                  </a:lnTo>
                  <a:cubicBezTo>
                    <a:pt x="3636264" y="4570476"/>
                    <a:pt x="3500628" y="4706112"/>
                    <a:pt x="3333242" y="4706112"/>
                  </a:cubicBezTo>
                  <a:lnTo>
                    <a:pt x="303022" y="4706112"/>
                  </a:lnTo>
                  <a:cubicBezTo>
                    <a:pt x="135636" y="4706112"/>
                    <a:pt x="0" y="4570476"/>
                    <a:pt x="0" y="4403090"/>
                  </a:cubicBezTo>
                  <a:close/>
                </a:path>
              </a:pathLst>
            </a:custGeom>
            <a:solidFill>
              <a:srgbClr val="E2F7EC"/>
            </a:solidFill>
            <a:ln w="11430" cap="sq">
              <a:solidFill>
                <a:srgbClr val="E2F7E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159752" y="4546854"/>
            <a:ext cx="473202" cy="267462"/>
            <a:chOff x="0" y="0"/>
            <a:chExt cx="630936" cy="3566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30936" cy="356616"/>
            </a:xfrm>
            <a:custGeom>
              <a:avLst/>
              <a:gdLst/>
              <a:ahLst/>
              <a:cxnLst/>
              <a:rect l="l" t="t" r="r" b="b"/>
              <a:pathLst>
                <a:path w="630936" h="356616">
                  <a:moveTo>
                    <a:pt x="0" y="0"/>
                  </a:moveTo>
                  <a:lnTo>
                    <a:pt x="630936" y="0"/>
                  </a:lnTo>
                  <a:lnTo>
                    <a:pt x="630936" y="356616"/>
                  </a:lnTo>
                  <a:lnTo>
                    <a:pt x="0" y="3566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519" r="-2251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630936" cy="3566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159752" y="5184648"/>
            <a:ext cx="2242566" cy="370332"/>
            <a:chOff x="0" y="0"/>
            <a:chExt cx="2990088" cy="49377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990088" cy="493776"/>
            </a:xfrm>
            <a:custGeom>
              <a:avLst/>
              <a:gdLst/>
              <a:ahLst/>
              <a:cxnLst/>
              <a:rect l="l" t="t" r="r" b="b"/>
              <a:pathLst>
                <a:path w="2990088" h="493776">
                  <a:moveTo>
                    <a:pt x="0" y="0"/>
                  </a:moveTo>
                  <a:lnTo>
                    <a:pt x="2990088" y="0"/>
                  </a:lnTo>
                  <a:lnTo>
                    <a:pt x="2990088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7992" b="-679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2990088" cy="4937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25"/>
                </a:lnSpc>
              </a:pPr>
              <a:r>
                <a:rPr lang="en-US" sz="1687" b="1">
                  <a:solidFill>
                    <a:srgbClr val="17191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COLLABORATE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159752" y="5801868"/>
            <a:ext cx="2242566" cy="88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lang="en-US" sz="1147">
                <a:solidFill>
                  <a:srgbClr val="17191F"/>
                </a:solidFill>
                <a:latin typeface="Inter"/>
                <a:ea typeface="Inter"/>
                <a:cs typeface="Inter"/>
                <a:sym typeface="Inter"/>
              </a:rPr>
              <a:t>Keep building across disciplines — as I have with clinicians, regulators, and researchers — with designers and developers too.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96646" y="8466201"/>
            <a:ext cx="8764524" cy="617220"/>
            <a:chOff x="0" y="0"/>
            <a:chExt cx="11686032" cy="82296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1686032" cy="822960"/>
            </a:xfrm>
            <a:custGeom>
              <a:avLst/>
              <a:gdLst/>
              <a:ahLst/>
              <a:cxnLst/>
              <a:rect l="l" t="t" r="r" b="b"/>
              <a:pathLst>
                <a:path w="11686032" h="822960">
                  <a:moveTo>
                    <a:pt x="0" y="0"/>
                  </a:moveTo>
                  <a:lnTo>
                    <a:pt x="11686032" y="0"/>
                  </a:lnTo>
                  <a:lnTo>
                    <a:pt x="11686032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6687" b="-2266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11686032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i="1">
                  <a:solidFill>
                    <a:srgbClr val="496CFF"/>
                  </a:solidFill>
                  <a:latin typeface="Noto Serif Italics"/>
                  <a:ea typeface="Noto Serif Italics"/>
                  <a:cs typeface="Noto Serif Italics"/>
                  <a:sym typeface="Noto Serif Italics"/>
                </a:rPr>
                <a:t>From models that predict → products people can trust.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96646" y="9289161"/>
            <a:ext cx="1255014" cy="288036"/>
            <a:chOff x="0" y="0"/>
            <a:chExt cx="1673352" cy="38404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673352" cy="384048"/>
            </a:xfrm>
            <a:custGeom>
              <a:avLst/>
              <a:gdLst/>
              <a:ahLst/>
              <a:cxnLst/>
              <a:rect l="l" t="t" r="r" b="b"/>
              <a:pathLst>
                <a:path w="1673352" h="384048">
                  <a:moveTo>
                    <a:pt x="0" y="0"/>
                  </a:moveTo>
                  <a:lnTo>
                    <a:pt x="1673352" y="0"/>
                  </a:lnTo>
                  <a:lnTo>
                    <a:pt x="1673352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899" b="-3489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1673352" cy="384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33"/>
                </a:lnSpc>
              </a:pPr>
              <a:r>
                <a:rPr lang="en-US" sz="944" b="1" u="sng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  <a:hlinkClick r:id="rId3" tooltip="https://github.com/marvelm69"/>
                </a:rPr>
                <a:t>↗  GitHub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2036826" y="9289161"/>
            <a:ext cx="1285875" cy="288036"/>
            <a:chOff x="0" y="0"/>
            <a:chExt cx="1714500" cy="38404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714500" cy="384048"/>
            </a:xfrm>
            <a:custGeom>
              <a:avLst/>
              <a:gdLst/>
              <a:ahLst/>
              <a:cxnLst/>
              <a:rect l="l" t="t" r="r" b="b"/>
              <a:pathLst>
                <a:path w="1714500" h="384048">
                  <a:moveTo>
                    <a:pt x="0" y="0"/>
                  </a:moveTo>
                  <a:lnTo>
                    <a:pt x="1714500" y="0"/>
                  </a:lnTo>
                  <a:lnTo>
                    <a:pt x="1714500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986" b="-369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1714500" cy="384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33"/>
                </a:lnSpc>
              </a:pPr>
              <a:r>
                <a:rPr lang="en-US" sz="944" b="1" u="sng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  <a:hlinkClick r:id="rId4" tooltip="https://marvel-portfolio-two.vercel.app/experience.html"/>
                </a:rPr>
                <a:t>↗  Portfolio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569589" y="9289161"/>
            <a:ext cx="1285875" cy="288036"/>
            <a:chOff x="0" y="0"/>
            <a:chExt cx="1714500" cy="38404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714500" cy="384048"/>
            </a:xfrm>
            <a:custGeom>
              <a:avLst/>
              <a:gdLst/>
              <a:ahLst/>
              <a:cxnLst/>
              <a:rect l="l" t="t" r="r" b="b"/>
              <a:pathLst>
                <a:path w="1714500" h="384048">
                  <a:moveTo>
                    <a:pt x="0" y="0"/>
                  </a:moveTo>
                  <a:lnTo>
                    <a:pt x="1714500" y="0"/>
                  </a:lnTo>
                  <a:lnTo>
                    <a:pt x="1714500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986" b="-369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1714500" cy="384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33"/>
                </a:lnSpc>
              </a:pPr>
              <a:r>
                <a:rPr lang="en-US" sz="944" b="1" u="sng">
                  <a:solidFill>
                    <a:srgbClr val="496CFF"/>
                  </a:solidFill>
                  <a:latin typeface="Inter Bold"/>
                  <a:ea typeface="Inter Bold"/>
                  <a:cs typeface="Inter Bold"/>
                  <a:sym typeface="Inter Bold"/>
                  <a:hlinkClick r:id="rId5" tooltip="https://www.linkedin.com/in/marvelmartawidjaja"/>
                </a:rPr>
                <a:t>↗  LinkedIn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9709785" y="405765"/>
            <a:ext cx="717118" cy="24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C4C8D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bce0314-66d2-465d-a4b8-04cf0abcda4d}" enabled="1" method="Privileged" siteId="{8b86a65e-3c3a-4406-8ac3-19a6b5cc52b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940</Words>
  <Application>Microsoft Office PowerPoint</Application>
  <PresentationFormat>Custom</PresentationFormat>
  <Paragraphs>134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Inter Bold</vt:lpstr>
      <vt:lpstr>Inter</vt:lpstr>
      <vt:lpstr>Aptos</vt:lpstr>
      <vt:lpstr>Noto Serif Italics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new</dc:title>
  <dc:creator>Yudiva, Carissa Almira</dc:creator>
  <cp:lastModifiedBy>Yudiva, Carissa Almira</cp:lastModifiedBy>
  <cp:revision>5</cp:revision>
  <dcterms:created xsi:type="dcterms:W3CDTF">2006-08-16T00:00:00Z</dcterms:created>
  <dcterms:modified xsi:type="dcterms:W3CDTF">2026-09-13T11:28:47Z</dcterms:modified>
  <dc:identifier>DAHVEa5oduQ</dc:identifier>
</cp:coreProperties>
</file>